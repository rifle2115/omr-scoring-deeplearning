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autoCompressPictures="0">
  <p:sldMasterIdLst>
    <p:sldMasterId id="2147483864" r:id="rId4"/>
    <p:sldMasterId id="2147483912" r:id="rId5"/>
  </p:sldMasterIdLst>
  <p:notesMasterIdLst>
    <p:notesMasterId r:id="rId19"/>
  </p:notesMasterIdLst>
  <p:sldIdLst>
    <p:sldId id="256" r:id="rId6"/>
    <p:sldId id="277" r:id="rId7"/>
    <p:sldId id="267" r:id="rId8"/>
    <p:sldId id="278" r:id="rId9"/>
    <p:sldId id="285" r:id="rId10"/>
    <p:sldId id="290" r:id="rId11"/>
    <p:sldId id="286" r:id="rId12"/>
    <p:sldId id="291" r:id="rId13"/>
    <p:sldId id="292" r:id="rId14"/>
    <p:sldId id="289" r:id="rId15"/>
    <p:sldId id="265" r:id="rId16"/>
    <p:sldId id="293" r:id="rId17"/>
    <p:sldId id="26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ont Matter" id="{05CDB963-8A90-4731-BD28-2E30D3FF484D}">
          <p14:sldIdLst>
            <p14:sldId id="256"/>
            <p14:sldId id="277"/>
            <p14:sldId id="267"/>
            <p14:sldId id="278"/>
            <p14:sldId id="285"/>
            <p14:sldId id="290"/>
            <p14:sldId id="286"/>
            <p14:sldId id="291"/>
            <p14:sldId id="292"/>
            <p14:sldId id="289"/>
            <p14:sldId id="265"/>
            <p14:sldId id="293"/>
            <p14:sldId id="26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116FA0-BE89-45B1-B5FA-4A99656CA78C}" v="19" dt="2025-11-26T07:21:35.7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70247" autoAdjust="0"/>
  </p:normalViewPr>
  <p:slideViewPr>
    <p:cSldViewPr snapToGrid="0">
      <p:cViewPr varScale="1">
        <p:scale>
          <a:sx n="59" d="100"/>
          <a:sy n="59" d="100"/>
        </p:scale>
        <p:origin x="848"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1991DB-DEE8-4174-9435-9D9F721C6C6A}" type="datetimeFigureOut">
              <a:rPr lang="en-US"/>
              <a:pPr/>
              <a:t>11/26/2025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66ED7-631A-46AF-B451-227D0A8685A0}" type="slidenum">
              <a:rPr lang="en-US"/>
              <a:pPr/>
              <a:t>‹#›</a:t>
            </a:fld>
            <a:endParaRPr lang="en-US"/>
          </a:p>
        </p:txBody>
      </p:sp>
    </p:spTree>
    <p:extLst>
      <p:ext uri="{BB962C8B-B14F-4D97-AF65-F5344CB8AC3E}">
        <p14:creationId xmlns:p14="http://schemas.microsoft.com/office/powerpoint/2010/main" val="4025988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We designed this template</a:t>
            </a:r>
            <a:r>
              <a:rPr lang="en-US" baseline="0" dirty="0">
                <a:cs typeface="Calibri"/>
              </a:rPr>
              <a:t> so that each member of the project team has a set of slides with its own theme where he/she can present their research. Members, here’s how you add a new slide to just your set: </a:t>
            </a:r>
          </a:p>
          <a:p>
            <a:br>
              <a:rPr lang="en-US" baseline="0" dirty="0">
                <a:cs typeface="Calibri"/>
              </a:rPr>
            </a:br>
            <a:endParaRPr lang="en-US" baseline="0" dirty="0">
              <a:cs typeface="Calibri"/>
            </a:endParaRPr>
          </a:p>
          <a:p>
            <a:pPr marL="0" indent="0">
              <a:buFont typeface="Arial" panose="020B0604020202020204" pitchFamily="34" charset="0"/>
              <a:buNone/>
            </a:pPr>
            <a:r>
              <a:rPr lang="en-US" dirty="0">
                <a:cs typeface="Calibri"/>
              </a:rPr>
              <a:t>Mark where you want to add the slide:</a:t>
            </a:r>
            <a:r>
              <a:rPr lang="en-US" baseline="0" dirty="0">
                <a:cs typeface="Calibri"/>
              </a:rPr>
              <a:t> Select </a:t>
            </a:r>
            <a:r>
              <a:rPr lang="en-US" dirty="0">
                <a:cs typeface="Calibri"/>
              </a:rPr>
              <a:t>an </a:t>
            </a:r>
            <a:r>
              <a:rPr lang="en-US" baseline="0" dirty="0">
                <a:cs typeface="Calibri"/>
              </a:rPr>
              <a:t>existing one in the Thumbnails pane, c</a:t>
            </a:r>
            <a:r>
              <a:rPr lang="en-US" dirty="0"/>
              <a:t>lick the New Slide button,</a:t>
            </a:r>
            <a:r>
              <a:rPr lang="en-US" baseline="0" dirty="0"/>
              <a:t> then </a:t>
            </a:r>
            <a:r>
              <a:rPr lang="en-US" dirty="0"/>
              <a:t>choose a layout.</a:t>
            </a:r>
            <a:r>
              <a:rPr lang="en-US" baseline="0" dirty="0"/>
              <a:t> </a:t>
            </a:r>
          </a:p>
          <a:p>
            <a:pPr marL="0" indent="0">
              <a:buFont typeface="Arial" panose="020B0604020202020204" pitchFamily="34" charset="0"/>
              <a:buNone/>
            </a:pPr>
            <a:br>
              <a:rPr lang="en-US" baseline="0" dirty="0">
                <a:cs typeface="Calibri"/>
              </a:rPr>
            </a:br>
            <a:endParaRPr lang="en-US" baseline="0" dirty="0">
              <a:cs typeface="Calibri"/>
            </a:endParaRPr>
          </a:p>
          <a:p>
            <a:pPr marL="0" indent="0">
              <a:buFont typeface="Arial" panose="020B0604020202020204" pitchFamily="34" charset="0"/>
              <a:buNone/>
            </a:pPr>
            <a:r>
              <a:rPr lang="en-US" baseline="0" dirty="0"/>
              <a:t>The new slide gets the same theme as the previous one you selected. </a:t>
            </a:r>
          </a:p>
          <a:p>
            <a:pPr marL="0" indent="0">
              <a:buFont typeface="Arial" panose="020B0604020202020204" pitchFamily="34" charset="0"/>
              <a:buNone/>
            </a:pPr>
            <a:br>
              <a:rPr lang="en-US" b="1" baseline="0" dirty="0">
                <a:cs typeface="Calibri"/>
              </a:rPr>
            </a:br>
            <a:endParaRPr lang="en-US" b="1" baseline="0" dirty="0">
              <a:cs typeface="Calibri"/>
            </a:endParaRPr>
          </a:p>
          <a:p>
            <a:pPr marL="0" indent="0">
              <a:buFont typeface="Arial" panose="020B0604020202020204" pitchFamily="34" charset="0"/>
              <a:buNone/>
            </a:pPr>
            <a:r>
              <a:rPr lang="en-US" b="1" baseline="0" dirty="0"/>
              <a:t>Careful! </a:t>
            </a:r>
            <a:r>
              <a:rPr lang="en-US" baseline="0" dirty="0"/>
              <a:t>Don’t annoy your fellow presenters by accidentally changing their themes. That can happen if you choose a theme Variant from the Design tab, which changes all of the slides in your presentation to that look</a:t>
            </a:r>
            <a:r>
              <a:rPr lang="en-US" baseline="0"/>
              <a:t>. </a:t>
            </a:r>
            <a:endParaRPr lang="en-US" dirty="0"/>
          </a:p>
        </p:txBody>
      </p:sp>
      <p:sp>
        <p:nvSpPr>
          <p:cNvPr id="4" name="Slide Number Placeholder 3"/>
          <p:cNvSpPr>
            <a:spLocks noGrp="1"/>
          </p:cNvSpPr>
          <p:nvPr>
            <p:ph type="sldNum" sz="quarter" idx="10"/>
          </p:nvPr>
        </p:nvSpPr>
        <p:spPr/>
        <p:txBody>
          <a:bodyPr/>
          <a:lstStyle/>
          <a:p>
            <a:fld id="{A7666ED7-631A-46AF-B451-227D0A8685A0}" type="slidenum">
              <a:rPr lang="en-US"/>
              <a:pPr/>
              <a:t>1</a:t>
            </a:fld>
            <a:endParaRPr lang="en-US"/>
          </a:p>
        </p:txBody>
      </p:sp>
    </p:spTree>
    <p:extLst>
      <p:ext uri="{BB962C8B-B14F-4D97-AF65-F5344CB8AC3E}">
        <p14:creationId xmlns:p14="http://schemas.microsoft.com/office/powerpoint/2010/main" val="2357382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666ED7-631A-46AF-B451-227D0A8685A0}" type="slidenum">
              <a:rPr lang="en-US"/>
              <a:pPr/>
              <a:t>2</a:t>
            </a:fld>
            <a:endParaRPr lang="en-US"/>
          </a:p>
        </p:txBody>
      </p:sp>
    </p:spTree>
    <p:extLst>
      <p:ext uri="{BB962C8B-B14F-4D97-AF65-F5344CB8AC3E}">
        <p14:creationId xmlns:p14="http://schemas.microsoft.com/office/powerpoint/2010/main" val="2716190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666ED7-631A-46AF-B451-227D0A8685A0}" type="slidenum">
              <a:rPr lang="en-US"/>
              <a:pPr/>
              <a:t>3</a:t>
            </a:fld>
            <a:endParaRPr lang="en-US"/>
          </a:p>
        </p:txBody>
      </p:sp>
    </p:spTree>
    <p:extLst>
      <p:ext uri="{BB962C8B-B14F-4D97-AF65-F5344CB8AC3E}">
        <p14:creationId xmlns:p14="http://schemas.microsoft.com/office/powerpoint/2010/main" val="1807281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666ED7-631A-46AF-B451-227D0A8685A0}" type="slidenum">
              <a:rPr lang="en-US"/>
              <a:pPr/>
              <a:t>4</a:t>
            </a:fld>
            <a:endParaRPr lang="en-US"/>
          </a:p>
        </p:txBody>
      </p:sp>
    </p:spTree>
    <p:extLst>
      <p:ext uri="{BB962C8B-B14F-4D97-AF65-F5344CB8AC3E}">
        <p14:creationId xmlns:p14="http://schemas.microsoft.com/office/powerpoint/2010/main" val="3137589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666ED7-631A-46AF-B451-227D0A8685A0}" type="slidenum">
              <a:rPr lang="en-US"/>
              <a:pPr/>
              <a:t>6</a:t>
            </a:fld>
            <a:endParaRPr lang="en-US"/>
          </a:p>
        </p:txBody>
      </p:sp>
    </p:spTree>
    <p:extLst>
      <p:ext uri="{BB962C8B-B14F-4D97-AF65-F5344CB8AC3E}">
        <p14:creationId xmlns:p14="http://schemas.microsoft.com/office/powerpoint/2010/main" val="2757680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666ED7-631A-46AF-B451-227D0A8685A0}" type="slidenum">
              <a:rPr lang="en-US"/>
              <a:pPr/>
              <a:t>11</a:t>
            </a:fld>
            <a:endParaRPr lang="en-US"/>
          </a:p>
        </p:txBody>
      </p:sp>
    </p:spTree>
    <p:extLst>
      <p:ext uri="{BB962C8B-B14F-4D97-AF65-F5344CB8AC3E}">
        <p14:creationId xmlns:p14="http://schemas.microsoft.com/office/powerpoint/2010/main" val="2829779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666ED7-631A-46AF-B451-227D0A8685A0}" type="slidenum">
              <a:rPr lang="en-US"/>
              <a:pPr/>
              <a:t>13</a:t>
            </a:fld>
            <a:endParaRPr lang="en-US"/>
          </a:p>
        </p:txBody>
      </p:sp>
    </p:spTree>
    <p:extLst>
      <p:ext uri="{BB962C8B-B14F-4D97-AF65-F5344CB8AC3E}">
        <p14:creationId xmlns:p14="http://schemas.microsoft.com/office/powerpoint/2010/main" val="3858393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rgbClr val="262626"/>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E1BE0518-6A9E-4BA9-A315-A211E07BE1F9}" type="datetime1">
              <a:rPr lang="en-US" smtClean="0"/>
              <a:t>11/26/2025</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r>
              <a:rPr lang="en-US"/>
              <a:t>Department of ARTIFICIAL INTELLIGENCE &amp; DATA SCIENCE</a:t>
            </a:r>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28592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F05572-8E86-4EA8-84B0-32A93FFDE6E4}" type="datetime1">
              <a:rPr lang="en-US" smtClean="0"/>
              <a:t>11/26/2025</a:t>
            </a:fld>
            <a:endParaRPr lang="en-US" dirty="0"/>
          </a:p>
        </p:txBody>
      </p:sp>
      <p:sp>
        <p:nvSpPr>
          <p:cNvPr id="5" name="Footer Placeholder 4"/>
          <p:cNvSpPr>
            <a:spLocks noGrp="1"/>
          </p:cNvSpPr>
          <p:nvPr>
            <p:ph type="ftr" sz="quarter" idx="11"/>
          </p:nvPr>
        </p:nvSpPr>
        <p:spPr/>
        <p:txBody>
          <a:bodyPr/>
          <a:lstStyle/>
          <a:p>
            <a:r>
              <a:rPr lang="en-US"/>
              <a:t>Department of ARTIFICIAL INTELLIGENCE &amp; DATA SCIENCE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97719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82038A-5CD3-4F14-8053-48D1EE556234}" type="datetime1">
              <a:rPr lang="en-US" smtClean="0"/>
              <a:t>11/26/2025</a:t>
            </a:fld>
            <a:endParaRPr lang="en-US" dirty="0"/>
          </a:p>
        </p:txBody>
      </p:sp>
      <p:sp>
        <p:nvSpPr>
          <p:cNvPr id="5" name="Footer Placeholder 4"/>
          <p:cNvSpPr>
            <a:spLocks noGrp="1"/>
          </p:cNvSpPr>
          <p:nvPr>
            <p:ph type="ftr" sz="quarter" idx="11"/>
          </p:nvPr>
        </p:nvSpPr>
        <p:spPr/>
        <p:txBody>
          <a:bodyPr/>
          <a:lstStyle/>
          <a:p>
            <a:r>
              <a:rPr lang="en-US"/>
              <a:t>Department of ARTIFICIAL INTELLIGENCE &amp; DATA SCIENCE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07674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A7F57A-C6E7-45B9-8E26-72FB53459032}" type="datetime1">
              <a:rPr lang="en-US" smtClean="0"/>
              <a:t>11/26/2025</a:t>
            </a:fld>
            <a:endParaRPr lang="en-US" dirty="0"/>
          </a:p>
        </p:txBody>
      </p:sp>
      <p:sp>
        <p:nvSpPr>
          <p:cNvPr id="6" name="Footer Placeholder 5"/>
          <p:cNvSpPr>
            <a:spLocks noGrp="1"/>
          </p:cNvSpPr>
          <p:nvPr>
            <p:ph type="ftr" sz="quarter" idx="11"/>
          </p:nvPr>
        </p:nvSpPr>
        <p:spPr/>
        <p:txBody>
          <a:bodyPr/>
          <a:lstStyle/>
          <a:p>
            <a:r>
              <a:rPr lang="en-US"/>
              <a:t>Department of ARTIFICIAL INTELLIGENCE &amp; DATA SCIENCE</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3720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043631-E1CE-4077-8CCD-FF8E6D8407A8}" type="datetime1">
              <a:rPr lang="en-US" smtClean="0"/>
              <a:t>11/26/2025</a:t>
            </a:fld>
            <a:endParaRPr lang="en-US" dirty="0"/>
          </a:p>
        </p:txBody>
      </p:sp>
      <p:sp>
        <p:nvSpPr>
          <p:cNvPr id="8" name="Footer Placeholder 7"/>
          <p:cNvSpPr>
            <a:spLocks noGrp="1"/>
          </p:cNvSpPr>
          <p:nvPr>
            <p:ph type="ftr" sz="quarter" idx="11"/>
          </p:nvPr>
        </p:nvSpPr>
        <p:spPr/>
        <p:txBody>
          <a:bodyPr/>
          <a:lstStyle/>
          <a:p>
            <a:r>
              <a:rPr lang="en-US"/>
              <a:t>Department of ARTIFICIAL INTELLIGENCE &amp; DATA SCIENCE</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6153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96E513-7BE1-4B45-AB17-FDFAE79FF163}" type="datetime1">
              <a:rPr lang="en-US" smtClean="0"/>
              <a:t>11/26/2025</a:t>
            </a:fld>
            <a:endParaRPr lang="en-US" dirty="0"/>
          </a:p>
        </p:txBody>
      </p:sp>
      <p:sp>
        <p:nvSpPr>
          <p:cNvPr id="4" name="Footer Placeholder 3"/>
          <p:cNvSpPr>
            <a:spLocks noGrp="1"/>
          </p:cNvSpPr>
          <p:nvPr>
            <p:ph type="ftr" sz="quarter" idx="11"/>
          </p:nvPr>
        </p:nvSpPr>
        <p:spPr/>
        <p:txBody>
          <a:bodyPr/>
          <a:lstStyle/>
          <a:p>
            <a:r>
              <a:rPr lang="en-US"/>
              <a:t>Department of ARTIFICIAL INTELLIGENCE &amp; DATA SCIENCE</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72905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CC5F39-4825-47F8-91F9-4E3D7B94A49A}" type="datetime1">
              <a:rPr lang="en-US" smtClean="0"/>
              <a:t>11/26/2025</a:t>
            </a:fld>
            <a:endParaRPr lang="en-US" dirty="0"/>
          </a:p>
        </p:txBody>
      </p:sp>
      <p:sp>
        <p:nvSpPr>
          <p:cNvPr id="3" name="Footer Placeholder 2"/>
          <p:cNvSpPr>
            <a:spLocks noGrp="1"/>
          </p:cNvSpPr>
          <p:nvPr>
            <p:ph type="ftr" sz="quarter" idx="11"/>
          </p:nvPr>
        </p:nvSpPr>
        <p:spPr/>
        <p:txBody>
          <a:bodyPr/>
          <a:lstStyle/>
          <a:p>
            <a:r>
              <a:rPr lang="en-US"/>
              <a:t>Department of ARTIFICIAL INTELLIGENCE &amp; DATA SCIENCE</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20497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375F3C16-74C1-42A4-B561-765540AA16B8}" type="datetime1">
              <a:rPr lang="en-US" smtClean="0"/>
              <a:t>11/26/2025</a:t>
            </a:fld>
            <a:endParaRPr lang="en-US" dirty="0"/>
          </a:p>
        </p:txBody>
      </p:sp>
      <p:sp>
        <p:nvSpPr>
          <p:cNvPr id="6" name="Footer Placeholder 5"/>
          <p:cNvSpPr>
            <a:spLocks noGrp="1"/>
          </p:cNvSpPr>
          <p:nvPr>
            <p:ph type="ftr" sz="quarter" idx="11"/>
          </p:nvPr>
        </p:nvSpPr>
        <p:spPr/>
        <p:txBody>
          <a:bodyPr/>
          <a:lstStyle/>
          <a:p>
            <a:r>
              <a:rPr lang="en-US"/>
              <a:t>Department of ARTIFICIAL INTELLIGENCE &amp; DATA SCIENCE</a:t>
            </a:r>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5103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20000"/>
              <a:lumOff val="8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34720432-D854-4EA5-962C-FF22D308C868}" type="datetime1">
              <a:rPr lang="en-US" smtClean="0"/>
              <a:t>11/26/2025</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r>
              <a:rPr lang="en-US"/>
              <a:t>Department of ARTIFICIAL INTELLIGENCE &amp; DATA SCIENCE</a:t>
            </a:r>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564877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88023-6B77-4796-8EA6-DAE8D7EC9732}" type="datetime1">
              <a:rPr lang="en-US" smtClean="0"/>
              <a:t>11/26/2025</a:t>
            </a:fld>
            <a:endParaRPr lang="en-US" dirty="0"/>
          </a:p>
        </p:txBody>
      </p:sp>
      <p:sp>
        <p:nvSpPr>
          <p:cNvPr id="5" name="Footer Placeholder 4"/>
          <p:cNvSpPr>
            <a:spLocks noGrp="1"/>
          </p:cNvSpPr>
          <p:nvPr>
            <p:ph type="ftr" sz="quarter" idx="11"/>
          </p:nvPr>
        </p:nvSpPr>
        <p:spPr/>
        <p:txBody>
          <a:bodyPr/>
          <a:lstStyle/>
          <a:p>
            <a:r>
              <a:rPr lang="en-US"/>
              <a:t>Department of ARTIFICIAL INTELLIGENCE &amp; DATA SCIENCE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8197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A093E4-CA32-4900-98B7-9C851DE1B178}" type="datetime1">
              <a:rPr lang="en-US" smtClean="0"/>
              <a:t>11/26/2025</a:t>
            </a:fld>
            <a:endParaRPr lang="en-US" dirty="0"/>
          </a:p>
        </p:txBody>
      </p:sp>
      <p:sp>
        <p:nvSpPr>
          <p:cNvPr id="5" name="Footer Placeholder 4"/>
          <p:cNvSpPr>
            <a:spLocks noGrp="1"/>
          </p:cNvSpPr>
          <p:nvPr>
            <p:ph type="ftr" sz="quarter" idx="11"/>
          </p:nvPr>
        </p:nvSpPr>
        <p:spPr/>
        <p:txBody>
          <a:bodyPr/>
          <a:lstStyle/>
          <a:p>
            <a:r>
              <a:rPr lang="en-US"/>
              <a:t>Department of ARTIFICIAL INTELLIGENCE &amp; DATA SCIENCE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57217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F36B9216-CB13-46E9-AFC3-688F372681AB}" type="datetime1">
              <a:rPr lang="en-US" smtClean="0"/>
              <a:t>11/26/2025</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r>
              <a:rPr lang="en-US"/>
              <a:t>Department of ARTIFICIAL INTELLIGENCE &amp; DATA SCIENCE</a:t>
            </a:r>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42680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31CC82-3C37-44D5-B316-4F969FD9ECDC}" type="datetime1">
              <a:rPr lang="en-US" smtClean="0"/>
              <a:t>11/26/2025</a:t>
            </a:fld>
            <a:endParaRPr lang="en-US" dirty="0"/>
          </a:p>
        </p:txBody>
      </p:sp>
      <p:sp>
        <p:nvSpPr>
          <p:cNvPr id="5" name="Footer Placeholder 4"/>
          <p:cNvSpPr>
            <a:spLocks noGrp="1"/>
          </p:cNvSpPr>
          <p:nvPr>
            <p:ph type="ftr" sz="quarter" idx="11"/>
          </p:nvPr>
        </p:nvSpPr>
        <p:spPr/>
        <p:txBody>
          <a:bodyPr/>
          <a:lstStyle/>
          <a:p>
            <a:r>
              <a:rPr lang="en-US"/>
              <a:t>Department of ARTIFICIAL INTELLIGENCE &amp; DATA SCIENCE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17301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05B363-9747-4F22-A7FB-C69A7161CBA3}" type="datetime1">
              <a:rPr lang="en-US" smtClean="0"/>
              <a:t>11/26/2025</a:t>
            </a:fld>
            <a:endParaRPr lang="en-US" dirty="0"/>
          </a:p>
        </p:txBody>
      </p:sp>
      <p:sp>
        <p:nvSpPr>
          <p:cNvPr id="5" name="Footer Placeholder 4"/>
          <p:cNvSpPr>
            <a:spLocks noGrp="1"/>
          </p:cNvSpPr>
          <p:nvPr>
            <p:ph type="ftr" sz="quarter" idx="11"/>
          </p:nvPr>
        </p:nvSpPr>
        <p:spPr/>
        <p:txBody>
          <a:bodyPr/>
          <a:lstStyle/>
          <a:p>
            <a:r>
              <a:rPr lang="en-US"/>
              <a:t>Department of ARTIFICIAL INTELLIGENCE &amp; DATA SCIENCE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25868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CD6F44-A54A-48D3-9A17-42C1731EC712}" type="datetime1">
              <a:rPr lang="en-US" smtClean="0"/>
              <a:t>11/26/2025</a:t>
            </a:fld>
            <a:endParaRPr lang="en-US" dirty="0"/>
          </a:p>
        </p:txBody>
      </p:sp>
      <p:sp>
        <p:nvSpPr>
          <p:cNvPr id="6" name="Footer Placeholder 5"/>
          <p:cNvSpPr>
            <a:spLocks noGrp="1"/>
          </p:cNvSpPr>
          <p:nvPr>
            <p:ph type="ftr" sz="quarter" idx="11"/>
          </p:nvPr>
        </p:nvSpPr>
        <p:spPr/>
        <p:txBody>
          <a:bodyPr/>
          <a:lstStyle/>
          <a:p>
            <a:r>
              <a:rPr lang="en-US"/>
              <a:t>Department of ARTIFICIAL INTELLIGENCE &amp; DATA SCIENCE</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7719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51D33B-202F-46C5-BC42-D6430295DD3D}" type="datetime1">
              <a:rPr lang="en-US" smtClean="0"/>
              <a:t>11/26/2025</a:t>
            </a:fld>
            <a:endParaRPr lang="en-US" dirty="0"/>
          </a:p>
        </p:txBody>
      </p:sp>
      <p:sp>
        <p:nvSpPr>
          <p:cNvPr id="8" name="Footer Placeholder 7"/>
          <p:cNvSpPr>
            <a:spLocks noGrp="1"/>
          </p:cNvSpPr>
          <p:nvPr>
            <p:ph type="ftr" sz="quarter" idx="11"/>
          </p:nvPr>
        </p:nvSpPr>
        <p:spPr/>
        <p:txBody>
          <a:bodyPr/>
          <a:lstStyle/>
          <a:p>
            <a:r>
              <a:rPr lang="en-US"/>
              <a:t>Department of ARTIFICIAL INTELLIGENCE &amp; DATA SCIENCE</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26430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2DF99F-6681-4F25-BF69-BFCDCFA2E608}" type="datetime1">
              <a:rPr lang="en-US" smtClean="0"/>
              <a:t>11/26/2025</a:t>
            </a:fld>
            <a:endParaRPr lang="en-US" dirty="0"/>
          </a:p>
        </p:txBody>
      </p:sp>
      <p:sp>
        <p:nvSpPr>
          <p:cNvPr id="4" name="Footer Placeholder 3"/>
          <p:cNvSpPr>
            <a:spLocks noGrp="1"/>
          </p:cNvSpPr>
          <p:nvPr>
            <p:ph type="ftr" sz="quarter" idx="11"/>
          </p:nvPr>
        </p:nvSpPr>
        <p:spPr/>
        <p:txBody>
          <a:bodyPr/>
          <a:lstStyle/>
          <a:p>
            <a:r>
              <a:rPr lang="en-US"/>
              <a:t>Department of ARTIFICIAL INTELLIGENCE &amp; DATA SCIENCE</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31032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8C0AE4-3FCA-4A43-B3BD-ADE13735AC82}" type="datetime1">
              <a:rPr lang="en-US" smtClean="0"/>
              <a:t>11/26/2025</a:t>
            </a:fld>
            <a:endParaRPr lang="en-US" dirty="0"/>
          </a:p>
        </p:txBody>
      </p:sp>
      <p:sp>
        <p:nvSpPr>
          <p:cNvPr id="3" name="Footer Placeholder 2"/>
          <p:cNvSpPr>
            <a:spLocks noGrp="1"/>
          </p:cNvSpPr>
          <p:nvPr>
            <p:ph type="ftr" sz="quarter" idx="11"/>
          </p:nvPr>
        </p:nvSpPr>
        <p:spPr/>
        <p:txBody>
          <a:bodyPr/>
          <a:lstStyle/>
          <a:p>
            <a:r>
              <a:rPr lang="en-US"/>
              <a:t>Department of ARTIFICIAL INTELLIGENCE &amp; DATA SCIENCE</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52860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99895405-DE11-44AB-905A-E875D7479C5E}" type="datetime1">
              <a:rPr lang="en-US" smtClean="0"/>
              <a:t>11/26/2025</a:t>
            </a:fld>
            <a:endParaRPr lang="en-US" dirty="0"/>
          </a:p>
        </p:txBody>
      </p:sp>
      <p:sp>
        <p:nvSpPr>
          <p:cNvPr id="6" name="Footer Placeholder 5"/>
          <p:cNvSpPr>
            <a:spLocks noGrp="1"/>
          </p:cNvSpPr>
          <p:nvPr>
            <p:ph type="ftr" sz="quarter" idx="11"/>
          </p:nvPr>
        </p:nvSpPr>
        <p:spPr/>
        <p:txBody>
          <a:bodyPr/>
          <a:lstStyle/>
          <a:p>
            <a:r>
              <a:rPr lang="en-US"/>
              <a:t>Department of ARTIFICIAL INTELLIGENCE &amp; DATA SCIENCE</a:t>
            </a:r>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46713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blipFill>
            <a:blip r:embed="rId2"/>
            <a:stretch>
              <a:fillRect/>
            </a:stretch>
          </a:blip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89FE30EE-4109-40DE-95D2-7D8F090D3187}" type="datetime1">
              <a:rPr lang="en-US" smtClean="0"/>
              <a:t>11/26/2025</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r>
              <a:rPr lang="en-US"/>
              <a:t>Department of ARTIFICIAL INTELLIGENCE &amp; DATA SCIENCE</a:t>
            </a:r>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623493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D06E30-8E89-4AA8-A581-A4273B9F9B12}" type="datetime1">
              <a:rPr lang="en-US" smtClean="0"/>
              <a:t>11/26/2025</a:t>
            </a:fld>
            <a:endParaRPr lang="en-US" dirty="0"/>
          </a:p>
        </p:txBody>
      </p:sp>
      <p:sp>
        <p:nvSpPr>
          <p:cNvPr id="5" name="Footer Placeholder 4"/>
          <p:cNvSpPr>
            <a:spLocks noGrp="1"/>
          </p:cNvSpPr>
          <p:nvPr>
            <p:ph type="ftr" sz="quarter" idx="11"/>
          </p:nvPr>
        </p:nvSpPr>
        <p:spPr/>
        <p:txBody>
          <a:bodyPr/>
          <a:lstStyle/>
          <a:p>
            <a:r>
              <a:rPr lang="en-US"/>
              <a:t>Department of ARTIFICIAL INTELLIGENCE &amp; DATA SCIENCE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04041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5CB9A-B902-4257-9A1A-028F6A5FFE45}" type="datetime1">
              <a:rPr lang="en-US" smtClean="0"/>
              <a:t>11/26/2025</a:t>
            </a:fld>
            <a:endParaRPr lang="en-US" dirty="0"/>
          </a:p>
        </p:txBody>
      </p:sp>
      <p:sp>
        <p:nvSpPr>
          <p:cNvPr id="5" name="Footer Placeholder 4"/>
          <p:cNvSpPr>
            <a:spLocks noGrp="1"/>
          </p:cNvSpPr>
          <p:nvPr>
            <p:ph type="ftr" sz="quarter" idx="11"/>
          </p:nvPr>
        </p:nvSpPr>
        <p:spPr/>
        <p:txBody>
          <a:bodyPr/>
          <a:lstStyle/>
          <a:p>
            <a:r>
              <a:rPr lang="en-US"/>
              <a:t>Department of ARTIFICIAL INTELLIGENCE &amp; DATA SCIENCE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85981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C6DDBE33-FDBD-4540-815D-430AACCB2774}" type="datetime1">
              <a:rPr lang="en-US" smtClean="0"/>
              <a:t>11/26/2025</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r>
              <a:rPr lang="en-US"/>
              <a:t>Department of ARTIFICIAL INTELLIGENCE &amp; DATA SCIENCE</a:t>
            </a:r>
            <a:endParaRPr lang="en-US" dirty="0"/>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94111883"/>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F72A74A8-BA72-4029-9855-4C227B3AAD9A}" type="datetime1">
              <a:rPr lang="en-US" smtClean="0"/>
              <a:t>11/26/2025</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r>
              <a:rPr lang="en-US"/>
              <a:t>Department of ARTIFICIAL INTELLIGENCE &amp; DATA SCIENCE</a:t>
            </a:r>
            <a:endParaRPr lang="en-US" dirty="0"/>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61516494"/>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2917371"/>
          </a:xfrm>
          <a:solidFill>
            <a:schemeClr val="accent1">
              <a:lumMod val="50000"/>
            </a:schemeClr>
          </a:solidFill>
        </p:spPr>
        <p:txBody>
          <a:bodyPr/>
          <a:lstStyle/>
          <a:p>
            <a:pPr algn="ctr"/>
            <a:r>
              <a:rPr lang="en-US" sz="4800" dirty="0">
                <a:latin typeface="Arabic Typesetting" pitchFamily="66" charset="-78"/>
                <a:cs typeface="Arabic Typesetting" pitchFamily="66" charset="-78"/>
              </a:rPr>
              <a:t>Automated OMR Evaluation and Scoring</a:t>
            </a:r>
            <a:endParaRPr lang="en-US" sz="4800" dirty="0"/>
          </a:p>
        </p:txBody>
      </p:sp>
      <p:sp>
        <p:nvSpPr>
          <p:cNvPr id="3" name="Subtitle 2"/>
          <p:cNvSpPr>
            <a:spLocks noGrp="1"/>
          </p:cNvSpPr>
          <p:nvPr>
            <p:ph type="subTitle" idx="1"/>
          </p:nvPr>
        </p:nvSpPr>
        <p:spPr>
          <a:xfrm>
            <a:off x="0" y="4566105"/>
            <a:ext cx="9228201" cy="2291895"/>
          </a:xfrm>
          <a:ln>
            <a:solidFill>
              <a:schemeClr val="accent1"/>
            </a:solidFill>
          </a:ln>
        </p:spPr>
        <p:txBody>
          <a:bodyPr>
            <a:normAutofit/>
          </a:bodyPr>
          <a:lstStyle/>
          <a:p>
            <a:r>
              <a:rPr lang="en-US" sz="1600" dirty="0">
                <a:solidFill>
                  <a:schemeClr val="tx1">
                    <a:lumMod val="95000"/>
                    <a:lumOff val="5000"/>
                  </a:schemeClr>
                </a:solidFill>
                <a:latin typeface="Times New Roman" pitchFamily="18" charset="0"/>
                <a:cs typeface="Times New Roman" pitchFamily="18" charset="0"/>
              </a:rPr>
              <a:t>Presented By:</a:t>
            </a:r>
          </a:p>
          <a:p>
            <a:r>
              <a:rPr lang="en-US" sz="1600" dirty="0">
                <a:latin typeface="Times New Roman" pitchFamily="18" charset="0"/>
                <a:cs typeface="Times New Roman" pitchFamily="18" charset="0"/>
              </a:rPr>
              <a:t>Elvis Bibu-1BM23AD021</a:t>
            </a:r>
          </a:p>
          <a:p>
            <a:r>
              <a:rPr lang="en-US" sz="1600" dirty="0">
                <a:latin typeface="Times New Roman" pitchFamily="18" charset="0"/>
                <a:cs typeface="Times New Roman" pitchFamily="18" charset="0"/>
              </a:rPr>
              <a:t>Kirthan A – 1BM23AD030</a:t>
            </a:r>
          </a:p>
          <a:p>
            <a:r>
              <a:rPr lang="en-US" sz="1600" dirty="0">
                <a:latin typeface="Times New Roman" pitchFamily="18" charset="0"/>
                <a:cs typeface="Times New Roman" pitchFamily="18" charset="0"/>
              </a:rPr>
              <a:t>Sai Prashanth-1BM23AD051</a:t>
            </a:r>
          </a:p>
          <a:p>
            <a:endParaRPr lang="en-US" sz="16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TextBox 3"/>
          <p:cNvSpPr txBox="1"/>
          <p:nvPr/>
        </p:nvSpPr>
        <p:spPr>
          <a:xfrm>
            <a:off x="0" y="3037114"/>
            <a:ext cx="12192000" cy="523220"/>
          </a:xfrm>
          <a:prstGeom prst="rect">
            <a:avLst/>
          </a:prstGeom>
          <a:noFill/>
        </p:spPr>
        <p:txBody>
          <a:bodyPr wrap="square" rtlCol="0">
            <a:spAutoFit/>
          </a:bodyPr>
          <a:lstStyle/>
          <a:p>
            <a:pPr algn="ctr"/>
            <a:r>
              <a:rPr lang="en-US" sz="2800" b="1" dirty="0">
                <a:solidFill>
                  <a:srgbClr val="002060"/>
                </a:solidFill>
                <a:latin typeface="Arabic Typesetting" pitchFamily="66" charset="-78"/>
                <a:cs typeface="Arabic Typesetting" pitchFamily="66" charset="-78"/>
              </a:rPr>
              <a:t>Guided By: Prof Shruthi K R</a:t>
            </a:r>
            <a:endParaRPr lang="en-IN" sz="2800" b="1" dirty="0">
              <a:solidFill>
                <a:srgbClr val="002060"/>
              </a:solidFill>
              <a:latin typeface="Arabic Typesetting" pitchFamily="66" charset="-78"/>
              <a:cs typeface="Arabic Typesetting" pitchFamily="66" charset="-78"/>
            </a:endParaRPr>
          </a:p>
        </p:txBody>
      </p:sp>
      <p:sp>
        <p:nvSpPr>
          <p:cNvPr id="41987" name="Rectangle 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sp>
        <p:nvSpPr>
          <p:cNvPr id="41988" name="Rectangle 4"/>
          <p:cNvSpPr>
            <a:spLocks noChangeArrowheads="1"/>
          </p:cNvSpPr>
          <p:nvPr/>
        </p:nvSpPr>
        <p:spPr bwMode="auto">
          <a:xfrm>
            <a:off x="1143000" y="51061"/>
            <a:ext cx="10765971" cy="160043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tab pos="2865438" algn="ctr"/>
                <a:tab pos="5730875" algn="r"/>
              </a:tabLst>
            </a:pPr>
            <a:r>
              <a:rPr kumimoji="0" lang="en-US" sz="3200" b="1" i="0" u="none" strike="noStrike" cap="none" normalizeH="0" baseline="0" dirty="0">
                <a:ln>
                  <a:noFill/>
                </a:ln>
                <a:solidFill>
                  <a:schemeClr val="tx1"/>
                </a:solidFill>
                <a:effectLst/>
                <a:latin typeface="Cambria" pitchFamily="18" charset="0"/>
                <a:ea typeface="Calibri" pitchFamily="34" charset="0"/>
                <a:cs typeface="Courier New" pitchFamily="49" charset="0"/>
              </a:rPr>
              <a:t>BMS College of Engineering </a:t>
            </a:r>
            <a:endParaRPr lang="en-US" sz="3200" dirty="0">
              <a:latin typeface="Arial" pitchFamily="34" charset="0"/>
              <a:ea typeface="Calibri" pitchFamily="34" charset="0"/>
              <a:cs typeface="Arial"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865438" algn="ctr"/>
                <a:tab pos="5730875" algn="r"/>
              </a:tabLst>
            </a:pPr>
            <a:r>
              <a:rPr kumimoji="0" lang="en-US" b="1" i="0" u="none" strike="noStrike" cap="none" normalizeH="0" baseline="0" dirty="0">
                <a:ln>
                  <a:noFill/>
                </a:ln>
                <a:solidFill>
                  <a:schemeClr val="bg1"/>
                </a:solidFill>
                <a:effectLst/>
                <a:latin typeface="Bell MT" pitchFamily="18" charset="0"/>
                <a:ea typeface="Calibri" pitchFamily="34" charset="0"/>
                <a:cs typeface="Times New Roman" pitchFamily="18" charset="0"/>
              </a:rPr>
              <a:t>Department of Artificial Intelligence &amp; Data Science</a:t>
            </a:r>
          </a:p>
          <a:p>
            <a:pPr marL="0" marR="0" lvl="0" indent="0" algn="ctr" defTabSz="914400" rtl="0" eaLnBrk="1" fontAlgn="base" latinLnBrk="0" hangingPunct="1">
              <a:lnSpc>
                <a:spcPct val="100000"/>
              </a:lnSpc>
              <a:spcBef>
                <a:spcPct val="0"/>
              </a:spcBef>
              <a:spcAft>
                <a:spcPct val="0"/>
              </a:spcAft>
              <a:buClrTx/>
              <a:buSzTx/>
              <a:buFontTx/>
              <a:buNone/>
              <a:tabLst>
                <a:tab pos="2865438" algn="ctr"/>
                <a:tab pos="5730875" algn="r"/>
              </a:tabLst>
            </a:pPr>
            <a:endParaRPr lang="en-US" sz="1600" b="1" dirty="0">
              <a:latin typeface="Cambria" pitchFamily="18"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tab pos="2865438" algn="ctr"/>
                <a:tab pos="5730875" algn="r"/>
              </a:tabLst>
            </a:pPr>
            <a:r>
              <a:rPr lang="en-US" sz="1600" b="1" dirty="0">
                <a:latin typeface="Cambria" pitchFamily="18" charset="0"/>
                <a:cs typeface="Times New Roman" pitchFamily="18" charset="0"/>
              </a:rPr>
              <a:t>Mini Project Presentation</a:t>
            </a:r>
          </a:p>
          <a:p>
            <a:pPr marL="0" marR="0" lvl="0" indent="0" algn="ctr" defTabSz="914400" rtl="0" eaLnBrk="1" fontAlgn="base" latinLnBrk="0" hangingPunct="1">
              <a:lnSpc>
                <a:spcPct val="100000"/>
              </a:lnSpc>
              <a:spcBef>
                <a:spcPct val="0"/>
              </a:spcBef>
              <a:spcAft>
                <a:spcPct val="0"/>
              </a:spcAft>
              <a:buClrTx/>
              <a:buSzTx/>
              <a:buFontTx/>
              <a:buNone/>
              <a:tabLst>
                <a:tab pos="2865438" algn="ctr"/>
                <a:tab pos="5730875" algn="r"/>
              </a:tabLst>
            </a:pPr>
            <a:r>
              <a:rPr lang="en-US" sz="1600" b="1" dirty="0">
                <a:latin typeface="Cambria" pitchFamily="18" charset="0"/>
                <a:cs typeface="Times New Roman" pitchFamily="18" charset="0"/>
              </a:rPr>
              <a:t>Feasibility Presentation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pic>
        <p:nvPicPr>
          <p:cNvPr id="8" name="Picture 7">
            <a:extLst>
              <a:ext uri="{FF2B5EF4-FFF2-40B4-BE49-F238E27FC236}">
                <a16:creationId xmlns:a16="http://schemas.microsoft.com/office/drawing/2014/main" id="{E24EEEDE-2795-429F-9776-4ED86CA7EB96}"/>
              </a:ext>
            </a:extLst>
          </p:cNvPr>
          <p:cNvPicPr/>
          <p:nvPr/>
        </p:nvPicPr>
        <p:blipFill>
          <a:blip r:embed="rId3"/>
          <a:stretch>
            <a:fillRect/>
          </a:stretch>
        </p:blipFill>
        <p:spPr>
          <a:xfrm>
            <a:off x="40821" y="55394"/>
            <a:ext cx="1390046" cy="1214605"/>
          </a:xfrm>
          <a:prstGeom prst="rect">
            <a:avLst/>
          </a:prstGeom>
        </p:spPr>
      </p:pic>
    </p:spTree>
    <p:extLst>
      <p:ext uri="{BB962C8B-B14F-4D97-AF65-F5344CB8AC3E}">
        <p14:creationId xmlns:p14="http://schemas.microsoft.com/office/powerpoint/2010/main" val="3418891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286" y="435429"/>
            <a:ext cx="12192000" cy="794657"/>
          </a:xfrm>
        </p:spPr>
        <p:txBody>
          <a:bodyPr>
            <a:normAutofit/>
          </a:bodyPr>
          <a:lstStyle/>
          <a:p>
            <a:pPr algn="ctr"/>
            <a:r>
              <a:rPr lang="en-US" sz="4400" dirty="0">
                <a:solidFill>
                  <a:schemeClr val="accent1">
                    <a:lumMod val="75000"/>
                  </a:schemeClr>
                </a:solidFill>
                <a:latin typeface="Times New Roman" pitchFamily="18" charset="0"/>
                <a:cs typeface="Times New Roman" pitchFamily="18" charset="0"/>
              </a:rPr>
              <a:t>Agenda</a:t>
            </a:r>
          </a:p>
        </p:txBody>
      </p:sp>
      <p:sp>
        <p:nvSpPr>
          <p:cNvPr id="3" name="Content Placeholder 2"/>
          <p:cNvSpPr>
            <a:spLocks noGrp="1"/>
          </p:cNvSpPr>
          <p:nvPr>
            <p:ph idx="1"/>
          </p:nvPr>
        </p:nvSpPr>
        <p:spPr>
          <a:xfrm>
            <a:off x="0" y="1633961"/>
            <a:ext cx="10753725" cy="3766185"/>
          </a:xfrm>
        </p:spPr>
        <p:txBody>
          <a:bodyPr>
            <a:normAutofit/>
          </a:bodyPr>
          <a:lstStyle/>
          <a:p>
            <a:pPr marL="457200" indent="-457200">
              <a:buFont typeface="+mj-lt"/>
              <a:buAutoNum type="arabicPeriod"/>
            </a:pPr>
            <a:r>
              <a:rPr lang="en-US" dirty="0">
                <a:latin typeface="Times New Roman" pitchFamily="18" charset="0"/>
                <a:cs typeface="Times New Roman" pitchFamily="18" charset="0"/>
              </a:rPr>
              <a:t>Overview / Background </a:t>
            </a:r>
          </a:p>
          <a:p>
            <a:pPr marL="457200" indent="-457200">
              <a:buFont typeface="+mj-lt"/>
              <a:buAutoNum type="arabicPeriod"/>
            </a:pPr>
            <a:r>
              <a:rPr lang="en-US" dirty="0">
                <a:latin typeface="Times New Roman" pitchFamily="18" charset="0"/>
                <a:cs typeface="Times New Roman" pitchFamily="18" charset="0"/>
              </a:rPr>
              <a:t>Motivation</a:t>
            </a:r>
          </a:p>
          <a:p>
            <a:pPr marL="457200" indent="-457200">
              <a:buFont typeface="+mj-lt"/>
              <a:buAutoNum type="arabicPeriod"/>
            </a:pPr>
            <a:r>
              <a:rPr lang="en-US" dirty="0">
                <a:latin typeface="Times New Roman" pitchFamily="18" charset="0"/>
                <a:cs typeface="Times New Roman" pitchFamily="18" charset="0"/>
              </a:rPr>
              <a:t>Key Challenges</a:t>
            </a:r>
          </a:p>
          <a:p>
            <a:pPr marL="457200" indent="-457200">
              <a:buFont typeface="+mj-lt"/>
              <a:buAutoNum type="arabicPeriod"/>
            </a:pPr>
            <a:r>
              <a:rPr lang="en-US" dirty="0">
                <a:latin typeface="Times New Roman" pitchFamily="18" charset="0"/>
                <a:cs typeface="Times New Roman" pitchFamily="18" charset="0"/>
              </a:rPr>
              <a:t>Problem Statement</a:t>
            </a:r>
          </a:p>
          <a:p>
            <a:pPr marL="457200" indent="-457200">
              <a:buFont typeface="+mj-lt"/>
              <a:buAutoNum type="arabicPeriod"/>
            </a:pPr>
            <a:r>
              <a:rPr lang="en-US" dirty="0">
                <a:latin typeface="Times New Roman" pitchFamily="18" charset="0"/>
                <a:cs typeface="Times New Roman" pitchFamily="18" charset="0"/>
              </a:rPr>
              <a:t>Expected Outcome / Contributions from the proposed</a:t>
            </a:r>
          </a:p>
          <a:p>
            <a:pPr marL="457200" indent="-457200">
              <a:buFont typeface="+mj-lt"/>
              <a:buAutoNum type="arabicPeriod"/>
            </a:pPr>
            <a:r>
              <a:rPr lang="en-US" dirty="0">
                <a:latin typeface="Times New Roman" pitchFamily="18" charset="0"/>
                <a:cs typeface="Times New Roman" pitchFamily="18" charset="0"/>
              </a:rPr>
              <a:t>Gantt Chart  </a:t>
            </a:r>
          </a:p>
          <a:p>
            <a:pPr marL="457200" indent="-457200">
              <a:buFont typeface="+mj-lt"/>
              <a:buAutoNum type="arabicPeriod"/>
            </a:pPr>
            <a:r>
              <a:rPr lang="en-US" dirty="0">
                <a:latin typeface="Times New Roman" pitchFamily="18" charset="0"/>
                <a:cs typeface="Times New Roman" pitchFamily="18" charset="0"/>
              </a:rPr>
              <a:t>Conclusion</a:t>
            </a:r>
          </a:p>
        </p:txBody>
      </p:sp>
      <p:sp>
        <p:nvSpPr>
          <p:cNvPr id="4" name="Date Placeholder 3"/>
          <p:cNvSpPr>
            <a:spLocks noGrp="1"/>
          </p:cNvSpPr>
          <p:nvPr>
            <p:ph type="dt" sz="half" idx="10"/>
          </p:nvPr>
        </p:nvSpPr>
        <p:spPr>
          <a:xfrm>
            <a:off x="0" y="6629400"/>
            <a:ext cx="4114800" cy="228600"/>
          </a:xfrm>
        </p:spPr>
        <p:txBody>
          <a:bodyPr/>
          <a:lstStyle/>
          <a:p>
            <a:fld id="{9FEB8CE4-E5EB-486F-B7DF-144185CE0E19}" type="datetime1">
              <a:rPr lang="en-US" smtClean="0"/>
              <a:t>11/26/2025</a:t>
            </a:fld>
            <a:endParaRPr lang="en-US" dirty="0"/>
          </a:p>
        </p:txBody>
      </p:sp>
      <p:sp>
        <p:nvSpPr>
          <p:cNvPr id="7" name="Footer Placeholder 6"/>
          <p:cNvSpPr>
            <a:spLocks noGrp="1"/>
          </p:cNvSpPr>
          <p:nvPr>
            <p:ph type="ftr" sz="quarter" idx="11"/>
          </p:nvPr>
        </p:nvSpPr>
        <p:spPr>
          <a:xfrm>
            <a:off x="4082143" y="6433457"/>
            <a:ext cx="5029200" cy="228600"/>
          </a:xfrm>
        </p:spPr>
        <p:txBody>
          <a:bodyPr/>
          <a:lstStyle/>
          <a:p>
            <a:pPr algn="ctr"/>
            <a:r>
              <a:rPr lang="en-US"/>
              <a:t>Department of ARTIFICIAL INTELLIGENCE &amp; DATA SCIENCE</a:t>
            </a:r>
            <a:endParaRPr lang="en-US" dirty="0"/>
          </a:p>
        </p:txBody>
      </p:sp>
    </p:spTree>
    <p:extLst>
      <p:ext uri="{BB962C8B-B14F-4D97-AF65-F5344CB8AC3E}">
        <p14:creationId xmlns:p14="http://schemas.microsoft.com/office/powerpoint/2010/main" val="338805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708781"/>
          </a:xfrm>
        </p:spPr>
        <p:txBody>
          <a:bodyPr>
            <a:normAutofit/>
          </a:bodyPr>
          <a:lstStyle/>
          <a:p>
            <a:pPr algn="ctr"/>
            <a:r>
              <a:rPr lang="en-US" sz="4400" dirty="0">
                <a:solidFill>
                  <a:schemeClr val="accent1">
                    <a:lumMod val="75000"/>
                  </a:schemeClr>
                </a:solidFill>
                <a:latin typeface="Times New Roman" pitchFamily="18" charset="0"/>
                <a:cs typeface="Times New Roman" pitchFamily="18" charset="0"/>
              </a:rPr>
              <a:t>Overview / Background</a:t>
            </a:r>
          </a:p>
        </p:txBody>
      </p:sp>
      <p:sp>
        <p:nvSpPr>
          <p:cNvPr id="3" name="Content Placeholder 2"/>
          <p:cNvSpPr>
            <a:spLocks noGrp="1"/>
          </p:cNvSpPr>
          <p:nvPr>
            <p:ph sz="half" idx="1"/>
          </p:nvPr>
        </p:nvSpPr>
        <p:spPr>
          <a:xfrm>
            <a:off x="762001" y="3719670"/>
            <a:ext cx="11003715" cy="1628890"/>
          </a:xfrm>
        </p:spPr>
        <p:txBody>
          <a:bodyPr>
            <a:normAutofit lnSpcReduction="10000"/>
          </a:bodyPr>
          <a:lstStyle/>
          <a:p>
            <a:pPr lvl="1" algn="just">
              <a:buFont typeface="Wingdings" panose="05000000000000000000" pitchFamily="2" charset="2"/>
              <a:buChar char="§"/>
            </a:pPr>
            <a:r>
              <a:rPr lang="en-US" dirty="0">
                <a:latin typeface="Times New Roman" pitchFamily="18" charset="0"/>
                <a:cs typeface="Times New Roman" pitchFamily="18" charset="0"/>
              </a:rPr>
              <a:t>OMR is used to read MCQ answers from sheets.</a:t>
            </a:r>
          </a:p>
          <a:p>
            <a:pPr lvl="1" algn="just">
              <a:buFont typeface="Wingdings" panose="05000000000000000000" pitchFamily="2" charset="2"/>
              <a:buChar char="§"/>
            </a:pPr>
            <a:endParaRPr lang="en-US" dirty="0">
              <a:latin typeface="Times New Roman" pitchFamily="18" charset="0"/>
              <a:cs typeface="Times New Roman" pitchFamily="18" charset="0"/>
            </a:endParaRPr>
          </a:p>
          <a:p>
            <a:pPr lvl="1" algn="just">
              <a:buFont typeface="Wingdings" panose="05000000000000000000" pitchFamily="2" charset="2"/>
              <a:buChar char="§"/>
            </a:pPr>
            <a:r>
              <a:rPr lang="en-US" dirty="0">
                <a:latin typeface="Times New Roman" pitchFamily="18" charset="0"/>
                <a:cs typeface="Times New Roman" pitchFamily="18" charset="0"/>
              </a:rPr>
              <a:t>Traditional OMR needs expensive hardware.</a:t>
            </a:r>
          </a:p>
          <a:p>
            <a:pPr lvl="1" algn="just">
              <a:buFont typeface="Wingdings" panose="05000000000000000000" pitchFamily="2" charset="2"/>
              <a:buChar char="§"/>
            </a:pPr>
            <a:endParaRPr lang="en-US" dirty="0">
              <a:latin typeface="Times New Roman" pitchFamily="18" charset="0"/>
              <a:cs typeface="Times New Roman" pitchFamily="18" charset="0"/>
            </a:endParaRPr>
          </a:p>
          <a:p>
            <a:pPr lvl="1" algn="just">
              <a:buFont typeface="Wingdings" panose="05000000000000000000" pitchFamily="2" charset="2"/>
              <a:buChar char="§"/>
            </a:pPr>
            <a:r>
              <a:rPr lang="en-US" dirty="0">
                <a:latin typeface="Times New Roman" pitchFamily="18" charset="0"/>
                <a:cs typeface="Times New Roman" pitchFamily="18" charset="0"/>
              </a:rPr>
              <a:t>With computer vision and CNNs, we can evaluate sheets using normal cameras.</a:t>
            </a:r>
          </a:p>
        </p:txBody>
      </p:sp>
      <p:sp>
        <p:nvSpPr>
          <p:cNvPr id="5" name="Date Placeholder 4"/>
          <p:cNvSpPr>
            <a:spLocks noGrp="1"/>
          </p:cNvSpPr>
          <p:nvPr>
            <p:ph type="dt" sz="half" idx="10"/>
          </p:nvPr>
        </p:nvSpPr>
        <p:spPr/>
        <p:txBody>
          <a:bodyPr/>
          <a:lstStyle/>
          <a:p>
            <a:fld id="{9A63EDBD-DCBE-479D-8318-CD575EFE7AB5}" type="datetime1">
              <a:rPr lang="en-US" smtClean="0"/>
              <a:t>11/26/2025</a:t>
            </a:fld>
            <a:endParaRPr lang="en-US" dirty="0"/>
          </a:p>
        </p:txBody>
      </p:sp>
      <p:sp>
        <p:nvSpPr>
          <p:cNvPr id="4" name="Footer Placeholder 6">
            <a:extLst>
              <a:ext uri="{FF2B5EF4-FFF2-40B4-BE49-F238E27FC236}">
                <a16:creationId xmlns:a16="http://schemas.microsoft.com/office/drawing/2014/main" id="{BC76FAEB-1268-18BD-24FE-2C2761491A3A}"/>
              </a:ext>
            </a:extLst>
          </p:cNvPr>
          <p:cNvSpPr>
            <a:spLocks noGrp="1"/>
          </p:cNvSpPr>
          <p:nvPr>
            <p:ph type="ftr" sz="quarter" idx="11"/>
          </p:nvPr>
        </p:nvSpPr>
        <p:spPr>
          <a:xfrm>
            <a:off x="4082143" y="6433457"/>
            <a:ext cx="5029200" cy="228600"/>
          </a:xfrm>
        </p:spPr>
        <p:txBody>
          <a:bodyPr/>
          <a:lstStyle/>
          <a:p>
            <a:pPr algn="ctr"/>
            <a:r>
              <a:rPr lang="en-US" dirty="0"/>
              <a:t>Department of ARTIFICIAL INTELLIGENCE &amp; DATA SCIENCE</a:t>
            </a:r>
          </a:p>
        </p:txBody>
      </p:sp>
      <p:sp>
        <p:nvSpPr>
          <p:cNvPr id="7" name="TextBox 6">
            <a:extLst>
              <a:ext uri="{FF2B5EF4-FFF2-40B4-BE49-F238E27FC236}">
                <a16:creationId xmlns:a16="http://schemas.microsoft.com/office/drawing/2014/main" id="{B4F7B255-AABB-A550-D97E-41F767CD8364}"/>
              </a:ext>
            </a:extLst>
          </p:cNvPr>
          <p:cNvSpPr txBox="1"/>
          <p:nvPr/>
        </p:nvSpPr>
        <p:spPr>
          <a:xfrm>
            <a:off x="762001" y="1455430"/>
            <a:ext cx="10472056" cy="163121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Overview / Background</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project focuses on developing a software-based OMR (Optical Mark Recognition) system using Convolutional Neural Networks (CNNs).</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It aims to replace traditional hardware OMR scanners with a more flexible, low-cost, image-based solution.</a:t>
            </a:r>
          </a:p>
        </p:txBody>
      </p:sp>
    </p:spTree>
    <p:extLst>
      <p:ext uri="{BB962C8B-B14F-4D97-AF65-F5344CB8AC3E}">
        <p14:creationId xmlns:p14="http://schemas.microsoft.com/office/powerpoint/2010/main" val="417252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0"/>
            <a:ext cx="10772775" cy="1658198"/>
          </a:xfrm>
        </p:spPr>
        <p:txBody>
          <a:bodyPr>
            <a:normAutofit/>
          </a:bodyPr>
          <a:lstStyle/>
          <a:p>
            <a:pPr algn="ctr"/>
            <a:r>
              <a:rPr lang="en-US" sz="4000" dirty="0">
                <a:solidFill>
                  <a:schemeClr val="accent1">
                    <a:lumMod val="75000"/>
                  </a:schemeClr>
                </a:solidFill>
                <a:latin typeface="Times New Roman" pitchFamily="18" charset="0"/>
                <a:cs typeface="Times New Roman" pitchFamily="18" charset="0"/>
              </a:rPr>
              <a:t>Motivation</a:t>
            </a:r>
          </a:p>
        </p:txBody>
      </p:sp>
      <p:sp>
        <p:nvSpPr>
          <p:cNvPr id="3" name="Content Placeholder 2"/>
          <p:cNvSpPr>
            <a:spLocks noGrp="1"/>
          </p:cNvSpPr>
          <p:nvPr>
            <p:ph idx="1"/>
          </p:nvPr>
        </p:nvSpPr>
        <p:spPr>
          <a:xfrm>
            <a:off x="546028" y="1706880"/>
            <a:ext cx="10753725" cy="3766185"/>
          </a:xfrm>
        </p:spPr>
        <p:txBody>
          <a:bodyPr>
            <a:normAutofit/>
          </a:bodyPr>
          <a:lstStyle/>
          <a:p>
            <a:pPr algn="just"/>
            <a:r>
              <a:rPr lang="en-US" sz="2000" dirty="0">
                <a:latin typeface="Times New Roman" panose="02020603050405020304" pitchFamily="18" charset="0"/>
                <a:cs typeface="Times New Roman" panose="02020603050405020304" pitchFamily="18" charset="0"/>
              </a:rPr>
              <a:t>There is a growing need for a low-cost, easy-to-use OMR system that works with normal scanned or photographed images. Using CNNs increases accuracy even when bubbles are filled imperfectly.</a:t>
            </a:r>
          </a:p>
          <a:p>
            <a:pPr algn="just"/>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000" dirty="0">
                <a:latin typeface="Times New Roman" panose="02020603050405020304" pitchFamily="18" charset="0"/>
                <a:cs typeface="Times New Roman" pitchFamily="18" charset="0"/>
              </a:rPr>
              <a:t>Reduce dependence on hardware</a:t>
            </a:r>
          </a:p>
          <a:p>
            <a:pPr algn="just">
              <a:buFont typeface="Wingdings" panose="05000000000000000000" pitchFamily="2" charset="2"/>
              <a:buChar char="§"/>
            </a:pPr>
            <a:endParaRPr lang="en-US" sz="2000" dirty="0">
              <a:latin typeface="Times New Roman" panose="02020603050405020304" pitchFamily="18" charset="0"/>
              <a:cs typeface="Times New Roman" pitchFamily="18" charset="0"/>
            </a:endParaRPr>
          </a:p>
          <a:p>
            <a:pPr algn="just">
              <a:buFont typeface="Wingdings" panose="05000000000000000000" pitchFamily="2" charset="2"/>
              <a:buChar char="§"/>
            </a:pPr>
            <a:r>
              <a:rPr lang="en-US" sz="2000" dirty="0">
                <a:latin typeface="Times New Roman" panose="02020603050405020304" pitchFamily="18" charset="0"/>
                <a:cs typeface="Times New Roman" pitchFamily="18" charset="0"/>
              </a:rPr>
              <a:t>Handle messy or partially filled bubbles</a:t>
            </a:r>
          </a:p>
          <a:p>
            <a:pPr algn="just">
              <a:buFont typeface="Wingdings" panose="05000000000000000000" pitchFamily="2" charset="2"/>
              <a:buChar char="§"/>
            </a:pPr>
            <a:endParaRPr lang="en-US" sz="2000" dirty="0">
              <a:latin typeface="Times New Roman" panose="02020603050405020304" pitchFamily="18" charset="0"/>
              <a:cs typeface="Times New Roman" pitchFamily="18" charset="0"/>
            </a:endParaRPr>
          </a:p>
          <a:p>
            <a:pPr algn="just">
              <a:buFont typeface="Wingdings" panose="05000000000000000000" pitchFamily="2" charset="2"/>
              <a:buChar char="§"/>
            </a:pPr>
            <a:r>
              <a:rPr lang="en-US" sz="2000" dirty="0">
                <a:latin typeface="Times New Roman" panose="02020603050405020304" pitchFamily="18" charset="0"/>
                <a:cs typeface="Times New Roman" pitchFamily="18" charset="0"/>
              </a:rPr>
              <a:t>Faster and automated evaluation</a:t>
            </a:r>
          </a:p>
        </p:txBody>
      </p:sp>
      <p:sp>
        <p:nvSpPr>
          <p:cNvPr id="5" name="Footer Placeholder 6">
            <a:extLst>
              <a:ext uri="{FF2B5EF4-FFF2-40B4-BE49-F238E27FC236}">
                <a16:creationId xmlns:a16="http://schemas.microsoft.com/office/drawing/2014/main" id="{A25C8D22-8C63-19A7-2AC9-204B7291C1DA}"/>
              </a:ext>
            </a:extLst>
          </p:cNvPr>
          <p:cNvSpPr>
            <a:spLocks noGrp="1"/>
          </p:cNvSpPr>
          <p:nvPr>
            <p:ph type="ftr" sz="quarter" idx="11"/>
          </p:nvPr>
        </p:nvSpPr>
        <p:spPr>
          <a:xfrm>
            <a:off x="4082143" y="6433457"/>
            <a:ext cx="5029200" cy="228600"/>
          </a:xfrm>
        </p:spPr>
        <p:txBody>
          <a:bodyPr/>
          <a:lstStyle/>
          <a:p>
            <a:pPr algn="ctr"/>
            <a:r>
              <a:rPr lang="en-US"/>
              <a:t>Department of ARTIFICIAL INTELLIGENCE &amp; DATA SCIENCE</a:t>
            </a:r>
            <a:endParaRPr lang="en-US" dirty="0"/>
          </a:p>
        </p:txBody>
      </p:sp>
      <p:sp>
        <p:nvSpPr>
          <p:cNvPr id="4" name="Date Placeholder 3">
            <a:extLst>
              <a:ext uri="{FF2B5EF4-FFF2-40B4-BE49-F238E27FC236}">
                <a16:creationId xmlns:a16="http://schemas.microsoft.com/office/drawing/2014/main" id="{FDA6D26B-15C2-4C08-BC96-524BAA27ACEA}"/>
              </a:ext>
            </a:extLst>
          </p:cNvPr>
          <p:cNvSpPr>
            <a:spLocks noGrp="1"/>
          </p:cNvSpPr>
          <p:nvPr>
            <p:ph type="dt" sz="half" idx="10"/>
          </p:nvPr>
        </p:nvSpPr>
        <p:spPr/>
        <p:txBody>
          <a:bodyPr/>
          <a:lstStyle/>
          <a:p>
            <a:fld id="{44A39D74-CA93-405C-BCAC-7EE620A657CF}" type="datetime1">
              <a:rPr lang="en-US" smtClean="0"/>
              <a:t>11/26/2025</a:t>
            </a:fld>
            <a:endParaRPr lang="en-US" dirty="0"/>
          </a:p>
        </p:txBody>
      </p:sp>
    </p:spTree>
    <p:extLst>
      <p:ext uri="{BB962C8B-B14F-4D97-AF65-F5344CB8AC3E}">
        <p14:creationId xmlns:p14="http://schemas.microsoft.com/office/powerpoint/2010/main" val="345016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915610"/>
          </a:xfrm>
        </p:spPr>
        <p:txBody>
          <a:bodyPr>
            <a:normAutofit/>
          </a:bodyPr>
          <a:lstStyle/>
          <a:p>
            <a:pPr algn="ctr"/>
            <a:r>
              <a:rPr lang="en-US" sz="4400" dirty="0"/>
              <a:t>Key Challenges</a:t>
            </a:r>
            <a:endParaRPr lang="en-IN" sz="4400" dirty="0"/>
          </a:p>
        </p:txBody>
      </p:sp>
      <p:sp>
        <p:nvSpPr>
          <p:cNvPr id="3" name="Content Placeholder 2"/>
          <p:cNvSpPr>
            <a:spLocks noGrp="1"/>
          </p:cNvSpPr>
          <p:nvPr>
            <p:ph idx="1"/>
          </p:nvPr>
        </p:nvSpPr>
        <p:spPr>
          <a:xfrm>
            <a:off x="654884" y="1968137"/>
            <a:ext cx="10753725" cy="3766185"/>
          </a:xfrm>
        </p:spPr>
        <p:txBody>
          <a:bodyPr>
            <a:normAutofit/>
          </a:bodyPr>
          <a:lstStyle/>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Detect all bubble locations accurately</a:t>
            </a:r>
          </a:p>
          <a:p>
            <a:pPr>
              <a:buFont typeface="Wingdings" panose="05000000000000000000" pitchFamily="2" charset="2"/>
              <a:buChar char="§"/>
            </a:pPr>
            <a:endParaRPr lang="en-US" sz="2000" dirty="0">
              <a:latin typeface="Times New Roman" panose="02020603050405020304" pitchFamily="18" charset="0"/>
              <a:cs typeface="Times New Roman" pitchFamily="18" charset="0"/>
            </a:endParaRPr>
          </a:p>
          <a:p>
            <a:pPr>
              <a:buFont typeface="Wingdings" panose="05000000000000000000" pitchFamily="2" charset="2"/>
              <a:buChar char="§"/>
            </a:pPr>
            <a:r>
              <a:rPr lang="en-US" sz="2000" dirty="0">
                <a:latin typeface="Times New Roman" panose="02020603050405020304" pitchFamily="18" charset="0"/>
                <a:cs typeface="Times New Roman" pitchFamily="18" charset="0"/>
              </a:rPr>
              <a:t>Identify filled vs unfilled bubbles</a:t>
            </a:r>
          </a:p>
          <a:p>
            <a:pPr>
              <a:buFont typeface="Wingdings" panose="05000000000000000000" pitchFamily="2" charset="2"/>
              <a:buChar char="§"/>
            </a:pPr>
            <a:endParaRPr lang="en-US" sz="2000" dirty="0">
              <a:latin typeface="Times New Roman" panose="02020603050405020304" pitchFamily="18" charset="0"/>
              <a:cs typeface="Times New Roman" pitchFamily="18" charset="0"/>
            </a:endParaRPr>
          </a:p>
          <a:p>
            <a:pPr>
              <a:buFont typeface="Wingdings" panose="05000000000000000000" pitchFamily="2" charset="2"/>
              <a:buChar char="§"/>
            </a:pPr>
            <a:r>
              <a:rPr lang="en-US" sz="2000" dirty="0">
                <a:latin typeface="Times New Roman" panose="02020603050405020304" pitchFamily="18" charset="0"/>
                <a:cs typeface="Times New Roman" pitchFamily="18" charset="0"/>
              </a:rPr>
              <a:t>Handle shadows, tilt, noise</a:t>
            </a:r>
          </a:p>
          <a:p>
            <a:pPr>
              <a:buFont typeface="Wingdings" panose="05000000000000000000" pitchFamily="2" charset="2"/>
              <a:buChar char="§"/>
            </a:pPr>
            <a:endParaRPr lang="en-US" sz="2000" dirty="0">
              <a:latin typeface="Times New Roman" panose="02020603050405020304" pitchFamily="18" charset="0"/>
              <a:cs typeface="Times New Roman" pitchFamily="18" charset="0"/>
            </a:endParaRPr>
          </a:p>
          <a:p>
            <a:pPr>
              <a:buFont typeface="Wingdings" panose="05000000000000000000" pitchFamily="2" charset="2"/>
              <a:buChar char="§"/>
            </a:pPr>
            <a:r>
              <a:rPr lang="en-US" sz="2000" dirty="0">
                <a:latin typeface="Times New Roman" panose="02020603050405020304" pitchFamily="18" charset="0"/>
                <a:cs typeface="Times New Roman" pitchFamily="18" charset="0"/>
              </a:rPr>
              <a:t>Output evaluated answers and score</a:t>
            </a:r>
            <a:endParaRPr lang="en-IN" sz="2000" dirty="0">
              <a:latin typeface="Times New Roman" panose="02020603050405020304" pitchFamily="18" charset="0"/>
              <a:cs typeface="Times New Roman" pitchFamily="18" charset="0"/>
            </a:endParaRPr>
          </a:p>
        </p:txBody>
      </p:sp>
      <p:sp>
        <p:nvSpPr>
          <p:cNvPr id="5" name="Footer Placeholder 6">
            <a:extLst>
              <a:ext uri="{FF2B5EF4-FFF2-40B4-BE49-F238E27FC236}">
                <a16:creationId xmlns:a16="http://schemas.microsoft.com/office/drawing/2014/main" id="{1421FB51-93C7-86BC-8FA4-DB2FFDEBB7D8}"/>
              </a:ext>
            </a:extLst>
          </p:cNvPr>
          <p:cNvSpPr>
            <a:spLocks noGrp="1"/>
          </p:cNvSpPr>
          <p:nvPr>
            <p:ph type="ftr" sz="quarter" idx="11"/>
          </p:nvPr>
        </p:nvSpPr>
        <p:spPr>
          <a:xfrm>
            <a:off x="3830352" y="6459962"/>
            <a:ext cx="5029200" cy="228600"/>
          </a:xfrm>
        </p:spPr>
        <p:txBody>
          <a:bodyPr/>
          <a:lstStyle/>
          <a:p>
            <a:pPr algn="ctr"/>
            <a:r>
              <a:rPr lang="en-US"/>
              <a:t>Department of ARTIFICIAL INTELLIGENCE &amp; DATA SCIENCE</a:t>
            </a:r>
            <a:endParaRPr lang="en-US" dirty="0"/>
          </a:p>
        </p:txBody>
      </p:sp>
      <p:sp>
        <p:nvSpPr>
          <p:cNvPr id="4" name="Date Placeholder 3">
            <a:extLst>
              <a:ext uri="{FF2B5EF4-FFF2-40B4-BE49-F238E27FC236}">
                <a16:creationId xmlns:a16="http://schemas.microsoft.com/office/drawing/2014/main" id="{B11CFC89-9066-4B1E-89FC-390F8C55248C}"/>
              </a:ext>
            </a:extLst>
          </p:cNvPr>
          <p:cNvSpPr>
            <a:spLocks noGrp="1"/>
          </p:cNvSpPr>
          <p:nvPr>
            <p:ph type="dt" sz="half" idx="10"/>
          </p:nvPr>
        </p:nvSpPr>
        <p:spPr/>
        <p:txBody>
          <a:bodyPr/>
          <a:lstStyle/>
          <a:p>
            <a:fld id="{754CD66B-1792-425A-A3DE-CF1B0DC2880F}" type="datetime1">
              <a:rPr lang="en-US" smtClean="0"/>
              <a:t>11/26/2025</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6000" dirty="0"/>
              <a:t>Problem Statement</a:t>
            </a:r>
          </a:p>
        </p:txBody>
      </p:sp>
    </p:spTree>
    <p:extLst>
      <p:ext uri="{BB962C8B-B14F-4D97-AF65-F5344CB8AC3E}">
        <p14:creationId xmlns:p14="http://schemas.microsoft.com/office/powerpoint/2010/main" val="4130320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730553"/>
          </a:xfrm>
        </p:spPr>
        <p:txBody>
          <a:bodyPr>
            <a:normAutofit/>
          </a:bodyPr>
          <a:lstStyle/>
          <a:p>
            <a:pPr algn="ctr"/>
            <a:r>
              <a:rPr lang="en-US" sz="4400" dirty="0"/>
              <a:t>Problem Statement</a:t>
            </a:r>
            <a:endParaRPr lang="en-IN" sz="4400" dirty="0"/>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project aims to develop an automated OMR evaluation system capable of accurately detecting and classifying answer bubbles using CNNs. The system must handle variations such as shadows, tilt, smudges, and inconsistent markings while maintaining high reliability. </a:t>
            </a:r>
            <a:endParaRPr lang="en-IN" sz="2000" dirty="0">
              <a:latin typeface="Times New Roman" panose="02020603050405020304" pitchFamily="18" charset="0"/>
              <a:cs typeface="Times New Roman" pitchFamily="18" charset="0"/>
            </a:endParaRPr>
          </a:p>
        </p:txBody>
      </p:sp>
      <p:sp>
        <p:nvSpPr>
          <p:cNvPr id="4" name="Date Placeholder 3"/>
          <p:cNvSpPr>
            <a:spLocks noGrp="1"/>
          </p:cNvSpPr>
          <p:nvPr>
            <p:ph type="dt" sz="half" idx="10"/>
          </p:nvPr>
        </p:nvSpPr>
        <p:spPr/>
        <p:txBody>
          <a:bodyPr/>
          <a:lstStyle/>
          <a:p>
            <a:fld id="{5C03DCA7-2DAA-4916-ABDE-4E0D5D8C893F}" type="datetime1">
              <a:rPr lang="en-US" smtClean="0"/>
              <a:t>11/26/2025</a:t>
            </a:fld>
            <a:endParaRPr lang="en-US" dirty="0"/>
          </a:p>
        </p:txBody>
      </p:sp>
      <p:sp>
        <p:nvSpPr>
          <p:cNvPr id="6" name="Footer Placeholder 5"/>
          <p:cNvSpPr>
            <a:spLocks noGrp="1"/>
          </p:cNvSpPr>
          <p:nvPr>
            <p:ph type="ftr" sz="quarter" idx="11"/>
          </p:nvPr>
        </p:nvSpPr>
        <p:spPr>
          <a:xfrm>
            <a:off x="3777343" y="6467611"/>
            <a:ext cx="5029200" cy="228600"/>
          </a:xfrm>
        </p:spPr>
        <p:txBody>
          <a:bodyPr/>
          <a:lstStyle/>
          <a:p>
            <a:pPr algn="ctr"/>
            <a:r>
              <a:rPr lang="en-US"/>
              <a:t>Department of ARTIFICIAL INTELLIGENCE &amp; DATA SCIENCE</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38178-276A-4A3D-B3F6-567D301DF27B}"/>
              </a:ext>
            </a:extLst>
          </p:cNvPr>
          <p:cNvSpPr>
            <a:spLocks noGrp="1"/>
          </p:cNvSpPr>
          <p:nvPr>
            <p:ph type="title"/>
          </p:nvPr>
        </p:nvSpPr>
        <p:spPr/>
        <p:txBody>
          <a:bodyPr/>
          <a:lstStyle/>
          <a:p>
            <a:r>
              <a:rPr lang="en-IN" dirty="0"/>
              <a:t>SYSTEM REQUIREMENTS</a:t>
            </a:r>
          </a:p>
        </p:txBody>
      </p:sp>
      <p:sp>
        <p:nvSpPr>
          <p:cNvPr id="3" name="Content Placeholder 2">
            <a:extLst>
              <a:ext uri="{FF2B5EF4-FFF2-40B4-BE49-F238E27FC236}">
                <a16:creationId xmlns:a16="http://schemas.microsoft.com/office/drawing/2014/main" id="{7CA2F077-6B31-467D-AFF4-BCF2A106F064}"/>
              </a:ext>
            </a:extLst>
          </p:cNvPr>
          <p:cNvSpPr>
            <a:spLocks noGrp="1"/>
          </p:cNvSpPr>
          <p:nvPr>
            <p:ph idx="1"/>
          </p:nvPr>
        </p:nvSpPr>
        <p:spPr/>
        <p:txBody>
          <a:bodyPr/>
          <a:lstStyle/>
          <a:p>
            <a:r>
              <a:rPr lang="en-IN" dirty="0"/>
              <a:t>Hardware</a:t>
            </a:r>
          </a:p>
          <a:p>
            <a:endParaRPr lang="en-IN" dirty="0"/>
          </a:p>
          <a:p>
            <a:r>
              <a:rPr lang="en-IN" dirty="0"/>
              <a:t>Software</a:t>
            </a:r>
          </a:p>
          <a:p>
            <a:endParaRPr lang="en-IN" dirty="0"/>
          </a:p>
          <a:p>
            <a:r>
              <a:rPr lang="en-IN" dirty="0"/>
              <a:t>Languages</a:t>
            </a:r>
          </a:p>
          <a:p>
            <a:endParaRPr lang="en-IN" dirty="0"/>
          </a:p>
          <a:p>
            <a:r>
              <a:rPr lang="en-IN" dirty="0"/>
              <a:t>Tools</a:t>
            </a:r>
          </a:p>
        </p:txBody>
      </p:sp>
      <p:sp>
        <p:nvSpPr>
          <p:cNvPr id="4" name="Date Placeholder 3">
            <a:extLst>
              <a:ext uri="{FF2B5EF4-FFF2-40B4-BE49-F238E27FC236}">
                <a16:creationId xmlns:a16="http://schemas.microsoft.com/office/drawing/2014/main" id="{15D1B50F-EFE4-475B-9018-90A203190615}"/>
              </a:ext>
            </a:extLst>
          </p:cNvPr>
          <p:cNvSpPr>
            <a:spLocks noGrp="1"/>
          </p:cNvSpPr>
          <p:nvPr>
            <p:ph type="dt" sz="half" idx="10"/>
          </p:nvPr>
        </p:nvSpPr>
        <p:spPr/>
        <p:txBody>
          <a:bodyPr/>
          <a:lstStyle/>
          <a:p>
            <a:fld id="{AFF05572-8E86-4EA8-84B0-32A93FFDE6E4}" type="datetime1">
              <a:rPr lang="en-US" smtClean="0"/>
              <a:t>11/26/2025</a:t>
            </a:fld>
            <a:endParaRPr lang="en-US" dirty="0"/>
          </a:p>
        </p:txBody>
      </p:sp>
      <p:sp>
        <p:nvSpPr>
          <p:cNvPr id="5" name="Footer Placeholder 4">
            <a:extLst>
              <a:ext uri="{FF2B5EF4-FFF2-40B4-BE49-F238E27FC236}">
                <a16:creationId xmlns:a16="http://schemas.microsoft.com/office/drawing/2014/main" id="{352C10F3-1788-42CB-BEE5-9FE2E0DA3FBD}"/>
              </a:ext>
            </a:extLst>
          </p:cNvPr>
          <p:cNvSpPr>
            <a:spLocks noGrp="1"/>
          </p:cNvSpPr>
          <p:nvPr>
            <p:ph type="ftr" sz="quarter" idx="11"/>
          </p:nvPr>
        </p:nvSpPr>
        <p:spPr>
          <a:xfrm>
            <a:off x="6976533" y="6526747"/>
            <a:ext cx="5029200" cy="228600"/>
          </a:xfrm>
        </p:spPr>
        <p:txBody>
          <a:bodyPr/>
          <a:lstStyle/>
          <a:p>
            <a:pPr algn="ctr"/>
            <a:r>
              <a:rPr lang="en-US" dirty="0"/>
              <a:t>Department of ARTIFICIAL INTELLIGENCE &amp; DATA SCIENCE</a:t>
            </a:r>
          </a:p>
        </p:txBody>
      </p:sp>
    </p:spTree>
    <p:extLst>
      <p:ext uri="{BB962C8B-B14F-4D97-AF65-F5344CB8AC3E}">
        <p14:creationId xmlns:p14="http://schemas.microsoft.com/office/powerpoint/2010/main" val="117500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88C72-0854-4B60-A435-D17ADD0A30E0}"/>
              </a:ext>
            </a:extLst>
          </p:cNvPr>
          <p:cNvSpPr>
            <a:spLocks noGrp="1"/>
          </p:cNvSpPr>
          <p:nvPr>
            <p:ph type="title"/>
          </p:nvPr>
        </p:nvSpPr>
        <p:spPr/>
        <p:txBody>
          <a:bodyPr/>
          <a:lstStyle/>
          <a:p>
            <a:r>
              <a:rPr lang="en-IN" dirty="0"/>
              <a:t>SYSTEM REQUIREMENTS</a:t>
            </a:r>
          </a:p>
        </p:txBody>
      </p:sp>
      <p:sp>
        <p:nvSpPr>
          <p:cNvPr id="3" name="Content Placeholder 2">
            <a:extLst>
              <a:ext uri="{FF2B5EF4-FFF2-40B4-BE49-F238E27FC236}">
                <a16:creationId xmlns:a16="http://schemas.microsoft.com/office/drawing/2014/main" id="{FB577996-E26A-46FB-962F-182AD784694B}"/>
              </a:ext>
            </a:extLst>
          </p:cNvPr>
          <p:cNvSpPr>
            <a:spLocks noGrp="1"/>
          </p:cNvSpPr>
          <p:nvPr>
            <p:ph idx="1"/>
          </p:nvPr>
        </p:nvSpPr>
        <p:spPr/>
        <p:txBody>
          <a:bodyPr/>
          <a:lstStyle/>
          <a:p>
            <a:r>
              <a:rPr lang="en-US" dirty="0"/>
              <a:t>Ethical issues</a:t>
            </a:r>
          </a:p>
          <a:p>
            <a:r>
              <a:rPr lang="en-US" dirty="0"/>
              <a:t>Responsible AI issues </a:t>
            </a:r>
          </a:p>
          <a:p>
            <a:r>
              <a:rPr lang="en-US" dirty="0"/>
              <a:t>Cost of training testing</a:t>
            </a:r>
          </a:p>
          <a:p>
            <a:r>
              <a:rPr lang="en-US" dirty="0"/>
              <a:t>Power  consumption</a:t>
            </a:r>
          </a:p>
          <a:p>
            <a:r>
              <a:rPr lang="en-US" dirty="0"/>
              <a:t>Impact on environment</a:t>
            </a:r>
            <a:endParaRPr lang="en-IN" dirty="0"/>
          </a:p>
        </p:txBody>
      </p:sp>
      <p:sp>
        <p:nvSpPr>
          <p:cNvPr id="4" name="Date Placeholder 3">
            <a:extLst>
              <a:ext uri="{FF2B5EF4-FFF2-40B4-BE49-F238E27FC236}">
                <a16:creationId xmlns:a16="http://schemas.microsoft.com/office/drawing/2014/main" id="{A9348AB0-0A0D-45DE-85D1-40569E054BEA}"/>
              </a:ext>
            </a:extLst>
          </p:cNvPr>
          <p:cNvSpPr>
            <a:spLocks noGrp="1"/>
          </p:cNvSpPr>
          <p:nvPr>
            <p:ph type="dt" sz="half" idx="10"/>
          </p:nvPr>
        </p:nvSpPr>
        <p:spPr/>
        <p:txBody>
          <a:bodyPr/>
          <a:lstStyle/>
          <a:p>
            <a:fld id="{AFF05572-8E86-4EA8-84B0-32A93FFDE6E4}" type="datetime1">
              <a:rPr lang="en-US" smtClean="0"/>
              <a:t>11/26/2025</a:t>
            </a:fld>
            <a:endParaRPr lang="en-US" dirty="0"/>
          </a:p>
        </p:txBody>
      </p:sp>
      <p:sp>
        <p:nvSpPr>
          <p:cNvPr id="5" name="Footer Placeholder 4">
            <a:extLst>
              <a:ext uri="{FF2B5EF4-FFF2-40B4-BE49-F238E27FC236}">
                <a16:creationId xmlns:a16="http://schemas.microsoft.com/office/drawing/2014/main" id="{2BC51B94-5475-4296-AB92-B0C76B4B2B28}"/>
              </a:ext>
            </a:extLst>
          </p:cNvPr>
          <p:cNvSpPr>
            <a:spLocks noGrp="1"/>
          </p:cNvSpPr>
          <p:nvPr>
            <p:ph type="ftr" sz="quarter" idx="11"/>
          </p:nvPr>
        </p:nvSpPr>
        <p:spPr>
          <a:xfrm>
            <a:off x="7069667" y="6526747"/>
            <a:ext cx="5029200" cy="228600"/>
          </a:xfrm>
        </p:spPr>
        <p:txBody>
          <a:bodyPr/>
          <a:lstStyle/>
          <a:p>
            <a:r>
              <a:rPr lang="en-US"/>
              <a:t>Department of ARTIFICIAL INTELLIGENCE &amp; DATA SCIENCE</a:t>
            </a:r>
            <a:endParaRPr lang="en-US" dirty="0"/>
          </a:p>
        </p:txBody>
      </p:sp>
    </p:spTree>
    <p:extLst>
      <p:ext uri="{BB962C8B-B14F-4D97-AF65-F5344CB8AC3E}">
        <p14:creationId xmlns:p14="http://schemas.microsoft.com/office/powerpoint/2010/main" val="263674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195" y="934961"/>
            <a:ext cx="10772775" cy="774096"/>
          </a:xfrm>
        </p:spPr>
        <p:txBody>
          <a:bodyPr>
            <a:normAutofit/>
          </a:bodyPr>
          <a:lstStyle/>
          <a:p>
            <a:pPr algn="ctr"/>
            <a:r>
              <a:rPr lang="en-US" sz="4400" dirty="0"/>
              <a:t>Expected Outcome / Contribution</a:t>
            </a:r>
            <a:endParaRPr lang="en-IN" sz="4400" dirty="0"/>
          </a:p>
        </p:txBody>
      </p:sp>
      <p:sp>
        <p:nvSpPr>
          <p:cNvPr id="3" name="Content Placeholder 2"/>
          <p:cNvSpPr>
            <a:spLocks noGrp="1"/>
          </p:cNvSpPr>
          <p:nvPr>
            <p:ph idx="1"/>
          </p:nvPr>
        </p:nvSpPr>
        <p:spPr>
          <a:xfrm>
            <a:off x="741970" y="2327366"/>
            <a:ext cx="10753725" cy="3766185"/>
          </a:xfrm>
        </p:spPr>
        <p:txBody>
          <a:bodyPr/>
          <a:lstStyle/>
          <a:p>
            <a:r>
              <a:rPr lang="en-US" dirty="0"/>
              <a:t>&lt;In Points- What is the expected contribution from the proposed project&gt;</a:t>
            </a:r>
            <a:endParaRPr lang="en-IN" dirty="0"/>
          </a:p>
        </p:txBody>
      </p:sp>
      <p:sp>
        <p:nvSpPr>
          <p:cNvPr id="4" name="Date Placeholder 3">
            <a:extLst>
              <a:ext uri="{FF2B5EF4-FFF2-40B4-BE49-F238E27FC236}">
                <a16:creationId xmlns:a16="http://schemas.microsoft.com/office/drawing/2014/main" id="{EBFCD19F-16AB-4463-810C-0A925B4485A7}"/>
              </a:ext>
            </a:extLst>
          </p:cNvPr>
          <p:cNvSpPr>
            <a:spLocks noGrp="1"/>
          </p:cNvSpPr>
          <p:nvPr>
            <p:ph type="dt" sz="half" idx="10"/>
          </p:nvPr>
        </p:nvSpPr>
        <p:spPr/>
        <p:txBody>
          <a:bodyPr/>
          <a:lstStyle/>
          <a:p>
            <a:fld id="{D08E062D-53CB-4B50-AB4C-332C407D9342}" type="datetime1">
              <a:rPr lang="en-US" smtClean="0"/>
              <a:t>11/26/2025</a:t>
            </a:fld>
            <a:endParaRPr lang="en-US" dirty="0"/>
          </a:p>
        </p:txBody>
      </p:sp>
      <p:sp>
        <p:nvSpPr>
          <p:cNvPr id="5" name="Footer Placeholder 4">
            <a:extLst>
              <a:ext uri="{FF2B5EF4-FFF2-40B4-BE49-F238E27FC236}">
                <a16:creationId xmlns:a16="http://schemas.microsoft.com/office/drawing/2014/main" id="{B7B043A7-4E5D-46D4-AA22-13EDD04DD9FA}"/>
              </a:ext>
            </a:extLst>
          </p:cNvPr>
          <p:cNvSpPr>
            <a:spLocks noGrp="1"/>
          </p:cNvSpPr>
          <p:nvPr>
            <p:ph type="ftr" sz="quarter" idx="11"/>
          </p:nvPr>
        </p:nvSpPr>
        <p:spPr>
          <a:xfrm>
            <a:off x="7001933" y="6526747"/>
            <a:ext cx="5029200" cy="228600"/>
          </a:xfrm>
        </p:spPr>
        <p:txBody>
          <a:bodyPr/>
          <a:lstStyle/>
          <a:p>
            <a:r>
              <a:rPr lang="en-US" dirty="0"/>
              <a:t>Department of ARTIFICIAL INTELLIGENCE &amp; DATA SCIENCE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3504" y="824896"/>
            <a:ext cx="10782300" cy="3352800"/>
          </a:xfrm>
        </p:spPr>
        <p:txBody>
          <a:bodyPr/>
          <a:lstStyle/>
          <a:p>
            <a:r>
              <a:rPr lang="en-US" sz="5400" dirty="0"/>
              <a:t>Presentation Summary</a:t>
            </a:r>
          </a:p>
        </p:txBody>
      </p:sp>
    </p:spTree>
    <p:extLst>
      <p:ext uri="{BB962C8B-B14F-4D97-AF65-F5344CB8AC3E}">
        <p14:creationId xmlns:p14="http://schemas.microsoft.com/office/powerpoint/2010/main" val="421671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661C7-1061-4256-81A3-5AD374007CDD}"/>
              </a:ext>
            </a:extLst>
          </p:cNvPr>
          <p:cNvSpPr>
            <a:spLocks noGrp="1"/>
          </p:cNvSpPr>
          <p:nvPr>
            <p:ph type="title"/>
          </p:nvPr>
        </p:nvSpPr>
        <p:spPr/>
        <p:txBody>
          <a:bodyPr/>
          <a:lstStyle/>
          <a:p>
            <a:r>
              <a:rPr lang="en-US" dirty="0"/>
              <a:t>Gantt Chart</a:t>
            </a:r>
            <a:endParaRPr lang="en-IN" dirty="0"/>
          </a:p>
        </p:txBody>
      </p:sp>
      <p:sp>
        <p:nvSpPr>
          <p:cNvPr id="3" name="Content Placeholder 2">
            <a:extLst>
              <a:ext uri="{FF2B5EF4-FFF2-40B4-BE49-F238E27FC236}">
                <a16:creationId xmlns:a16="http://schemas.microsoft.com/office/drawing/2014/main" id="{9466B226-AE78-487B-B99C-83B20B992383}"/>
              </a:ext>
            </a:extLst>
          </p:cNvPr>
          <p:cNvSpPr>
            <a:spLocks noGrp="1"/>
          </p:cNvSpPr>
          <p:nvPr>
            <p:ph idx="1"/>
          </p:nvPr>
        </p:nvSpPr>
        <p:spPr/>
        <p:txBody>
          <a:bodyPr/>
          <a:lstStyle/>
          <a:p>
            <a:r>
              <a:rPr lang="en-US" dirty="0"/>
              <a:t>Completion of project dead lines</a:t>
            </a:r>
            <a:endParaRPr lang="en-IN" dirty="0"/>
          </a:p>
        </p:txBody>
      </p:sp>
      <p:sp>
        <p:nvSpPr>
          <p:cNvPr id="4" name="Date Placeholder 3">
            <a:extLst>
              <a:ext uri="{FF2B5EF4-FFF2-40B4-BE49-F238E27FC236}">
                <a16:creationId xmlns:a16="http://schemas.microsoft.com/office/drawing/2014/main" id="{655F0B19-30F8-4806-820B-1FA9DE931F49}"/>
              </a:ext>
            </a:extLst>
          </p:cNvPr>
          <p:cNvSpPr>
            <a:spLocks noGrp="1"/>
          </p:cNvSpPr>
          <p:nvPr>
            <p:ph type="dt" sz="half" idx="10"/>
          </p:nvPr>
        </p:nvSpPr>
        <p:spPr/>
        <p:txBody>
          <a:bodyPr/>
          <a:lstStyle/>
          <a:p>
            <a:fld id="{BF31CC82-3C37-44D5-B316-4F969FD9ECDC}" type="datetime1">
              <a:rPr lang="en-US" smtClean="0"/>
              <a:t>11/26/2025</a:t>
            </a:fld>
            <a:endParaRPr lang="en-US" dirty="0"/>
          </a:p>
        </p:txBody>
      </p:sp>
      <p:sp>
        <p:nvSpPr>
          <p:cNvPr id="5" name="Footer Placeholder 4">
            <a:extLst>
              <a:ext uri="{FF2B5EF4-FFF2-40B4-BE49-F238E27FC236}">
                <a16:creationId xmlns:a16="http://schemas.microsoft.com/office/drawing/2014/main" id="{1BC2B587-E221-4090-A035-8DBCC402B9E0}"/>
              </a:ext>
            </a:extLst>
          </p:cNvPr>
          <p:cNvSpPr>
            <a:spLocks noGrp="1"/>
          </p:cNvSpPr>
          <p:nvPr>
            <p:ph type="ftr" sz="quarter" idx="11"/>
          </p:nvPr>
        </p:nvSpPr>
        <p:spPr>
          <a:xfrm>
            <a:off x="7078134" y="6526747"/>
            <a:ext cx="5029200" cy="228600"/>
          </a:xfrm>
        </p:spPr>
        <p:txBody>
          <a:bodyPr/>
          <a:lstStyle/>
          <a:p>
            <a:r>
              <a:rPr lang="en-US" dirty="0"/>
              <a:t>Department of ARTIFICIAL INTELLIGENCE &amp; DATA SCIENCE</a:t>
            </a:r>
          </a:p>
        </p:txBody>
      </p:sp>
    </p:spTree>
    <p:extLst>
      <p:ext uri="{BB962C8B-B14F-4D97-AF65-F5344CB8AC3E}">
        <p14:creationId xmlns:p14="http://schemas.microsoft.com/office/powerpoint/2010/main" val="4089551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0767" y="172961"/>
            <a:ext cx="10772775" cy="1658198"/>
          </a:xfrm>
        </p:spPr>
        <p:txBody>
          <a:bodyPr>
            <a:normAutofit/>
          </a:bodyPr>
          <a:lstStyle/>
          <a:p>
            <a:pPr algn="ctr"/>
            <a:r>
              <a:rPr lang="en-US" sz="4400" dirty="0">
                <a:solidFill>
                  <a:schemeClr val="accent1">
                    <a:lumMod val="75000"/>
                  </a:schemeClr>
                </a:solidFill>
              </a:rPr>
              <a:t>Conclusion</a:t>
            </a:r>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Brief summary of what you discovered based on research</a:t>
            </a:r>
          </a:p>
        </p:txBody>
      </p:sp>
      <p:sp>
        <p:nvSpPr>
          <p:cNvPr id="5" name="Footer Placeholder 6">
            <a:extLst>
              <a:ext uri="{FF2B5EF4-FFF2-40B4-BE49-F238E27FC236}">
                <a16:creationId xmlns:a16="http://schemas.microsoft.com/office/drawing/2014/main" id="{F02C04CF-E5FD-A28A-4526-8AD2A304476C}"/>
              </a:ext>
            </a:extLst>
          </p:cNvPr>
          <p:cNvSpPr>
            <a:spLocks noGrp="1"/>
          </p:cNvSpPr>
          <p:nvPr>
            <p:ph type="ftr" sz="quarter" idx="11"/>
          </p:nvPr>
        </p:nvSpPr>
        <p:spPr>
          <a:xfrm>
            <a:off x="4082143" y="6433457"/>
            <a:ext cx="5029200" cy="228600"/>
          </a:xfrm>
        </p:spPr>
        <p:txBody>
          <a:bodyPr/>
          <a:lstStyle/>
          <a:p>
            <a:pPr algn="ctr"/>
            <a:r>
              <a:rPr lang="en-US"/>
              <a:t>Department of ARTIFICIAL INTELLIGENCE &amp; DATA SCIENCE</a:t>
            </a:r>
            <a:endParaRPr lang="en-US" dirty="0"/>
          </a:p>
        </p:txBody>
      </p:sp>
      <p:sp>
        <p:nvSpPr>
          <p:cNvPr id="4" name="Date Placeholder 3">
            <a:extLst>
              <a:ext uri="{FF2B5EF4-FFF2-40B4-BE49-F238E27FC236}">
                <a16:creationId xmlns:a16="http://schemas.microsoft.com/office/drawing/2014/main" id="{27491BDF-2EB2-4E62-AF0C-411339598DB0}"/>
              </a:ext>
            </a:extLst>
          </p:cNvPr>
          <p:cNvSpPr>
            <a:spLocks noGrp="1"/>
          </p:cNvSpPr>
          <p:nvPr>
            <p:ph type="dt" sz="half" idx="10"/>
          </p:nvPr>
        </p:nvSpPr>
        <p:spPr/>
        <p:txBody>
          <a:bodyPr/>
          <a:lstStyle/>
          <a:p>
            <a:fld id="{96A332E6-0035-4FEF-9F14-A86BF6472ADE}" type="datetime1">
              <a:rPr lang="en-US" smtClean="0"/>
              <a:t>11/26/2025</a:t>
            </a:fld>
            <a:endParaRPr lang="en-US" dirty="0"/>
          </a:p>
        </p:txBody>
      </p:sp>
    </p:spTree>
    <p:extLst>
      <p:ext uri="{BB962C8B-B14F-4D97-AF65-F5344CB8AC3E}">
        <p14:creationId xmlns:p14="http://schemas.microsoft.com/office/powerpoint/2010/main" val="3305110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_Metropolitan">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Metropolita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3A8A2BB7-7C5E-4EB2-B1F1-CFFF0F57E773}"/>
    </a:ext>
  </a:extLst>
</a:theme>
</file>

<file path=ppt/theme/theme2.xml><?xml version="1.0" encoding="utf-8"?>
<a:theme xmlns:a="http://schemas.openxmlformats.org/drawingml/2006/main" name="3_Metropolit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tropolita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f583bd66513a361a730282b6a794e352">
  <xsd:schema xmlns:xsd="http://www.w3.org/2001/XMLSchema" xmlns:xs="http://www.w3.org/2001/XMLSchema" xmlns:p="http://schemas.microsoft.com/office/2006/metadata/properties" targetNamespace="http://schemas.microsoft.com/office/2006/metadata/properties" ma:root="true" ma:fieldsID="6841151cf538834e171094e4faaf2d7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F17D79-05FE-43C7-A9B5-360E9D6B5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F71E0A8-DA6F-4DC5-84AA-9AE90625C277}">
  <ds:schemaRefs>
    <ds:schemaRef ds:uri="http://www.w3.org/XML/1998/namespace"/>
    <ds:schemaRef ds:uri="http://schemas.microsoft.com/office/infopath/2007/PartnerControls"/>
    <ds:schemaRef ds:uri="http://schemas.microsoft.com/office/2006/metadata/properties"/>
    <ds:schemaRef ds:uri="http://schemas.openxmlformats.org/package/2006/metadata/core-properties"/>
    <ds:schemaRef ds:uri="http://schemas.microsoft.com/office/2006/documentManagement/types"/>
    <ds:schemaRef ds:uri="http://purl.org/dc/terms/"/>
    <ds:schemaRef ds:uri="http://purl.org/dc/elements/1.1/"/>
    <ds:schemaRef ds:uri="http://purl.org/dc/dcmitype/"/>
  </ds:schemaRefs>
</ds:datastoreItem>
</file>

<file path=customXml/itemProps3.xml><?xml version="1.0" encoding="utf-8"?>
<ds:datastoreItem xmlns:ds="http://schemas.openxmlformats.org/officeDocument/2006/customXml" ds:itemID="{76B64549-C1F2-49EA-8B2D-5EF61BF1CE5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Metropolitan</Template>
  <TotalTime>0</TotalTime>
  <Words>525</Words>
  <Application>Microsoft Office PowerPoint</Application>
  <PresentationFormat>Widescreen</PresentationFormat>
  <Paragraphs>103</Paragraphs>
  <Slides>13</Slides>
  <Notes>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13</vt:i4>
      </vt:variant>
    </vt:vector>
  </HeadingPairs>
  <TitlesOfParts>
    <vt:vector size="23" baseType="lpstr">
      <vt:lpstr>Arabic Typesetting</vt:lpstr>
      <vt:lpstr>Arial</vt:lpstr>
      <vt:lpstr>Bell MT</vt:lpstr>
      <vt:lpstr>Calibri</vt:lpstr>
      <vt:lpstr>Calibri Light</vt:lpstr>
      <vt:lpstr>Cambria</vt:lpstr>
      <vt:lpstr>Times New Roman</vt:lpstr>
      <vt:lpstr>Wingdings</vt:lpstr>
      <vt:lpstr>2_Metropolitan</vt:lpstr>
      <vt:lpstr>3_Metropolitan</vt:lpstr>
      <vt:lpstr>Automated OMR Evaluation and Scoring</vt:lpstr>
      <vt:lpstr>Agenda</vt:lpstr>
      <vt:lpstr>Overview / Background</vt:lpstr>
      <vt:lpstr>Motivation</vt:lpstr>
      <vt:lpstr>Key Challenges</vt:lpstr>
      <vt:lpstr>Problem Statement</vt:lpstr>
      <vt:lpstr>Problem Statement</vt:lpstr>
      <vt:lpstr>SYSTEM REQUIREMENTS</vt:lpstr>
      <vt:lpstr>SYSTEM REQUIREMENTS</vt:lpstr>
      <vt:lpstr>Expected Outcome / Contribution</vt:lpstr>
      <vt:lpstr>Presentation Summary</vt:lpstr>
      <vt:lpstr>Gantt Chart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dc:title>
  <dc:creator/>
  <cp:lastModifiedBy/>
  <cp:revision>4</cp:revision>
  <dcterms:created xsi:type="dcterms:W3CDTF">2013-06-12T19:28:15Z</dcterms:created>
  <dcterms:modified xsi:type="dcterms:W3CDTF">2025-11-26T07:21:53Z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ies>
</file>